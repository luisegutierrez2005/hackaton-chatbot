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4790809e78949d5" /><Relationship Type="http://schemas.openxmlformats.org/officeDocument/2006/relationships/extended-properties" Target="/docProps/app.xml" Id="Rdf581dc22a6c493b" /><Relationship Type="http://schemas.openxmlformats.org/officeDocument/2006/relationships/officeDocument" Target="/ppt/presentation.xml" Id="R0e653dcc237e45c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e49d0d44f564fcf"/>
  </p:sldMasterIdLst>
  <p:notesMasterIdLst>
    <p:notesMasterId xmlns:r="http://schemas.openxmlformats.org/officeDocument/2006/relationships" r:id="Rabc41fe8b12d4e3a"/>
  </p:notesMasterIdLst>
  <p:sldIdLst>
    <p:sldId xmlns:r="http://schemas.openxmlformats.org/officeDocument/2006/relationships" id="256" r:id="R3cf4d6e0111943f4"/>
    <p:sldId xmlns:r="http://schemas.openxmlformats.org/officeDocument/2006/relationships" id="257" r:id="Ra56f7fb1d0154726"/>
    <p:sldId xmlns:r="http://schemas.openxmlformats.org/officeDocument/2006/relationships" id="258" r:id="R09d1f1d1530142e8"/>
    <p:sldId xmlns:r="http://schemas.openxmlformats.org/officeDocument/2006/relationships" id="259" r:id="R1aaa36568742414f"/>
    <p:sldId xmlns:r="http://schemas.openxmlformats.org/officeDocument/2006/relationships" id="260" r:id="Rbcd40db452c84659"/>
    <p:sldId xmlns:r="http://schemas.openxmlformats.org/officeDocument/2006/relationships" id="261" r:id="R65d08d17bb6a45fb"/>
    <p:sldId xmlns:r="http://schemas.openxmlformats.org/officeDocument/2006/relationships" id="262" r:id="R34291425a4bf43e2"/>
    <p:sldId xmlns:r="http://schemas.openxmlformats.org/officeDocument/2006/relationships" id="263" r:id="R69083a573a564b4f"/>
    <p:sldId xmlns:r="http://schemas.openxmlformats.org/officeDocument/2006/relationships" id="264" r:id="R45b2f21fb65b4aa3"/>
    <p:sldId xmlns:r="http://schemas.openxmlformats.org/officeDocument/2006/relationships" id="265" r:id="R746d757eb75945d9"/>
    <p:sldId xmlns:r="http://schemas.openxmlformats.org/officeDocument/2006/relationships" id="266" r:id="Red2358db0293432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d468ecda6e46e4" /><Relationship Type="http://schemas.openxmlformats.org/officeDocument/2006/relationships/slideMaster" Target="/ppt/slideMasters/slideMaster1.xml" Id="R9e49d0d44f564fcf" /><Relationship Type="http://schemas.openxmlformats.org/officeDocument/2006/relationships/notesMaster" Target="/ppt/notesMasters/notesMaster1.xml" Id="Rabc41fe8b12d4e3a" /><Relationship Type="http://schemas.openxmlformats.org/officeDocument/2006/relationships/presProps" Target="/ppt/presProps.xml" Id="R85af8cf86c8f4d2e" /><Relationship Type="http://schemas.openxmlformats.org/officeDocument/2006/relationships/tableStyles" Target="/ppt/tableStyles.xml" Id="R32cd9126b33947b0" /><Relationship Type="http://schemas.openxmlformats.org/officeDocument/2006/relationships/slide" Target="/ppt/slides/slide1.xml" Id="R3cf4d6e0111943f4" /><Relationship Type="http://schemas.openxmlformats.org/officeDocument/2006/relationships/slide" Target="/ppt/slides/slide2.xml" Id="Ra56f7fb1d0154726" /><Relationship Type="http://schemas.openxmlformats.org/officeDocument/2006/relationships/slide" Target="/ppt/slides/slide3.xml" Id="R09d1f1d1530142e8" /><Relationship Type="http://schemas.openxmlformats.org/officeDocument/2006/relationships/slide" Target="/ppt/slides/slide4.xml" Id="R1aaa36568742414f" /><Relationship Type="http://schemas.openxmlformats.org/officeDocument/2006/relationships/slide" Target="/ppt/slides/slide5.xml" Id="Rbcd40db452c84659" /><Relationship Type="http://schemas.openxmlformats.org/officeDocument/2006/relationships/slide" Target="/ppt/slides/slide6.xml" Id="R65d08d17bb6a45fb" /><Relationship Type="http://schemas.openxmlformats.org/officeDocument/2006/relationships/slide" Target="/ppt/slides/slide7.xml" Id="R34291425a4bf43e2" /><Relationship Type="http://schemas.openxmlformats.org/officeDocument/2006/relationships/slide" Target="/ppt/slides/slide8.xml" Id="R69083a573a564b4f" /><Relationship Type="http://schemas.openxmlformats.org/officeDocument/2006/relationships/slide" Target="/ppt/slides/slide9.xml" Id="R45b2f21fb65b4aa3" /><Relationship Type="http://schemas.openxmlformats.org/officeDocument/2006/relationships/slide" Target="/ppt/slides/slide10.xml" Id="R746d757eb75945d9" /><Relationship Type="http://schemas.openxmlformats.org/officeDocument/2006/relationships/slide" Target="/ppt/slides/slide11.xml" Id="Red2358db0293432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3f856948cf941c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b25d038c5f485a" /><Relationship Type="http://schemas.openxmlformats.org/officeDocument/2006/relationships/notesMaster" Target="/ppt/notesMasters/notesMaster1.xml" Id="R6c0699086729435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6acc2e73d8a4f99" /><Relationship Type="http://schemas.openxmlformats.org/officeDocument/2006/relationships/notesMaster" Target="/ppt/notesMasters/notesMaster1.xml" Id="Rf0d3145f31ae403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691cdfb278d462f" /><Relationship Type="http://schemas.openxmlformats.org/officeDocument/2006/relationships/notesMaster" Target="/ppt/notesMasters/notesMaster1.xml" Id="R0803a9beb27c4d1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5e50913b2c445f3" /><Relationship Type="http://schemas.openxmlformats.org/officeDocument/2006/relationships/notesMaster" Target="/ppt/notesMasters/notesMaster1.xml" Id="R4c264f923c5d460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1000bec399d452a" /><Relationship Type="http://schemas.openxmlformats.org/officeDocument/2006/relationships/notesMaster" Target="/ppt/notesMasters/notesMaster1.xml" Id="R55294b1381244c2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f792ba28c0b4609" /><Relationship Type="http://schemas.openxmlformats.org/officeDocument/2006/relationships/notesMaster" Target="/ppt/notesMasters/notesMaster1.xml" Id="R39084ac976c54ef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16f713a08414aad" /><Relationship Type="http://schemas.openxmlformats.org/officeDocument/2006/relationships/notesMaster" Target="/ppt/notesMasters/notesMaster1.xml" Id="Ra4113fd665bf42c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79d1a143ee84074" /><Relationship Type="http://schemas.openxmlformats.org/officeDocument/2006/relationships/notesMaster" Target="/ppt/notesMasters/notesMaster1.xml" Id="R6e8df89ff84c468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36333893dce4e8d" /><Relationship Type="http://schemas.openxmlformats.org/officeDocument/2006/relationships/notesMaster" Target="/ppt/notesMasters/notesMaster1.xml" Id="Rc993a658bc55490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95b02a2d8d44d88" /><Relationship Type="http://schemas.openxmlformats.org/officeDocument/2006/relationships/notesMaster" Target="/ppt/notesMasters/notesMaster1.xml" Id="R4e0842a5a6bb4e5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a820cf4fc0d4f2d" /><Relationship Type="http://schemas.openxmlformats.org/officeDocument/2006/relationships/notesMaster" Target="/ppt/notesMasters/notesMaster1.xml" Id="R2b0ac7e69d9f48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Título. El proyecto no es un servicio oficial del CESA. La presentación distingue la visión futura del prototipo funcional. El nombre NidoBot se conserva de la presentación suministrada por el equipo.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Buyer persona ilustrativo construido a partir del contexto de la encuesta de estudiantes (n=10) y la visión de la presentación original. No representa una persona real ni una entrevista individual. La planificación de horarios se describe como función futura.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dos archivos XLSX proporcionados por el equipo: encuesta estudiantil (10 respuestas) y encuesta a CESA Contigo (2 respuestas). 8/10 = 3 varias veces por semana + 5 ocasionalmente. 7/10 = 4 el mismo día + 2 en 1–2 días + 1 en más de 2 días. 9/10 = autorreporte de haber perdido cupo. Las dos personas de CESA Contigo estimaron 200 consultas por semana normal y duplicación o más en matrícula; es estimación, no registro auditado. No generalizar estas tasas a toda la universidad.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primera función existe parcialmente en el servicio local y Telegram. La segunda se retoma de la visión del PPTX original, pero requiere API o mecanismo autorizado, datos de oferta, privacidad, diseño de solver y validación institucional. Encuesta estudiantes: 6/10 prefieren web y 4/10 WhatsApp. El prototipo usa Telegram por facilidad de prueba, no porque sea el canal preferido de la muestra.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Flujo deseado, no una demo. No hay API de Nido aprobada, integración con Banner ni acceso a datos personales. El sistema no matricula automáticamente. El optimizador matemático de NRC descrito en la presentación previa es una propuesta que requiere datos oficiales y desarrollo posterior.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Mockup reconstruido para explicar el flujo; no es una captura literal. En pruebas manuales Telegram y `cesa_lookup` respondieron consultas reales, incluida una sobre certificado y otra sobre ubicación del Laboratorio Financiero. Fuente de procedimiento: https://www.cesa.edu.co/registro-y-control/. El servidor debe seguir activo localmente. La función de extracción pública es limitada y no verifica automáticamente el contenido.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Arquitectura observada en código y prueba manual. SQLite almacena; no entrena un modelo. El fallback directo consulta una URL del dominio público CESA cuando hay coincidencia inequívoca, robots.txt lo permite y se cumplen límites de una página por pregunta, diez minutos entre consultas nuevas y seis en 24 horas. Los fragmentos extraídos son `extracted_public`, no `verified_public`. OpenAI Responses y Composio/Apify son rutas opcionales del backend sin credenciales verificadas en la última revisión.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Ambas interfaces son mockups editables, no capturas ni producto terminado. Izquierda: comportamiento ya probado: abstención ante notas personales. Derecha: explorador de horarios hipotético; números de créditos y opción A son elementos ilustrativos, no oferta real del CESA. La visión depende de permisos y datos oficiales.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EVALUACION_50_2026-09-24.md. 50/50 es resultado después de iteraciones sobre una batería simulada, no prueba ciega ni tasa de exactitud externa. Desglose 30 oficiales, 8 aportadas y 12 abstenciones. El caso de ubicación del Laboratorio Financiero fue detectado por Luis frente a la web institucional y se modificó para no afirmar una ubicación actual sin confirmación.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Secuencia propuesta, no cronograma comprometido. La encuesta a CESA Contigo n=2 muestra reservas respecto a costos, errores, seguridad y personalización; ambos calificaron viabilidad de integración con 3/5, uno vio colaboración poco probable y otro solicitó más evaluación. Ningún acceso institucional está aprobado.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Conclusión. No presentar la visión como implementada. Solicitud concreta al CESA: evaluación de contenido, pruebas con usuarios y discusión de integración, permisos y gobierno de datos. La presentación es una propuesta académica no oficial.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8a23bb84ca42d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1e1aa8e6c08401d" /><Relationship Type="http://schemas.openxmlformats.org/officeDocument/2006/relationships/slideLayout" Target="/ppt/slideLayouts/slideLayout1.xml" Id="R99401c158b984c8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401c158b984c8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1cfe218bfd4bde" /><Relationship Type="http://schemas.openxmlformats.org/officeDocument/2006/relationships/notesSlide" Target="/ppt/notesSlides/notesSlide1.xml" Id="R6383ddf045d141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dceb31ce2844a5" /><Relationship Type="http://schemas.openxmlformats.org/officeDocument/2006/relationships/notesSlide" Target="/ppt/notesSlides/notesSlide2.xml" Id="Ref948c15c8fa4f6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07071cfd6842f6" /><Relationship Type="http://schemas.openxmlformats.org/officeDocument/2006/relationships/notesSlide" Target="/ppt/notesSlides/notesSlide3.xml" Id="Rf4a7a4edd86a49f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0ed59f9c934480" /><Relationship Type="http://schemas.openxmlformats.org/officeDocument/2006/relationships/notesSlide" Target="/ppt/notesSlides/notesSlide4.xml" Id="Raef7187b1b0440b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556543c6564d03" /><Relationship Type="http://schemas.openxmlformats.org/officeDocument/2006/relationships/notesSlide" Target="/ppt/notesSlides/notesSlide5.xml" Id="R6beb4d29e6044da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a65ffb8bc94e00" /><Relationship Type="http://schemas.openxmlformats.org/officeDocument/2006/relationships/notesSlide" Target="/ppt/notesSlides/notesSlide6.xml" Id="Rbf476da2583543a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2d99cdb67749a8" /><Relationship Type="http://schemas.openxmlformats.org/officeDocument/2006/relationships/notesSlide" Target="/ppt/notesSlides/notesSlide7.xml" Id="Rdb0fc68a16b8438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f011e7de5c4272" /><Relationship Type="http://schemas.openxmlformats.org/officeDocument/2006/relationships/notesSlide" Target="/ppt/notesSlides/notesSlide8.xml" Id="R1dc34d117de144c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ce6ce9f6ef41a4" /><Relationship Type="http://schemas.openxmlformats.org/officeDocument/2006/relationships/notesSlide" Target="/ppt/notesSlides/notesSlide9.xml" Id="R6feb9b6b3fec45d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2fac6e0b084446" /><Relationship Type="http://schemas.openxmlformats.org/officeDocument/2006/relationships/notesSlide" Target="/ppt/notesSlides/notesSlide10.xml" Id="R148aef2615884a8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a39f6c16554715" /><Relationship Type="http://schemas.openxmlformats.org/officeDocument/2006/relationships/notesSlide" Target="/ppt/notesSlides/notesSlide11.xml" Id="Re6b3dad3e0df4b6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9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685680-98B9-4DBF-B2E7-8064721C8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BCD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9ED2F1-5BC8-4129-A091-073F5C24A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762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NIDOBOT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FDE079-56B6-482A-842E-2FF1B317B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43050"/>
            <a:ext cx="714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1BCD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1BCD4"/>
                </a:solidFill>
                <a:latin typeface="Arial"/>
                <a:ea typeface="Arial"/>
                <a:cs typeface="Arial"/>
              </a:rPr>
              <a:t>Una puerta de entrada a la información del CESA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D440CB-CBA6-4BB1-9D1C-B3E187E8D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666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Visión del producto + prototipo funcional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69DE75-2B90-4F39-94B5-16B65767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62375"/>
            <a:ext cx="1714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284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CB9EF9-6B4C-499F-A305-D58B5CE03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PROPUESTA FUTURA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3E58A1-89A4-4C6E-A5E0-BDCB0BB55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762375"/>
            <a:ext cx="2000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9F8F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610BF0-9A37-4789-9C30-B98A34662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8004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93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1930"/>
                </a:solidFill>
                <a:latin typeface="Arial"/>
                <a:ea typeface="Arial"/>
                <a:cs typeface="Arial"/>
              </a:rPr>
              <a:t>DEMOSTRACIÓN ACTUAL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BBC538-98B3-4AC4-A106-8B0B5BBD0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790575"/>
            <a:ext cx="2847975" cy="4857750"/>
          </a:xfrm>
          <a:prstGeom xmlns:a="http://schemas.openxmlformats.org/drawingml/2006/main" prst="roundRect">
            <a:avLst>
              <a:gd name="adj" fmla="val 2676"/>
            </a:avLst>
          </a:prstGeom>
          <a:solidFill xmlns:a="http://schemas.openxmlformats.org/drawingml/2006/main">
            <a:srgbClr val="102848"/>
          </a:solidFill>
          <a:ln xmlns:a="http://schemas.openxmlformats.org/drawingml/2006/main" w="28575">
            <a:solidFill>
              <a:srgbClr val="53718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DE2871-AA74-42BF-948A-9871EB34C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133475"/>
            <a:ext cx="2428875" cy="4333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8E65F9-97B4-4A25-9395-C0D7ED3C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1428750"/>
            <a:ext cx="2066925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B193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BCB017-F361-4110-89A1-5E586E50C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5430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NidoBot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F53100-187C-4115-B402-98676B3DC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247900"/>
            <a:ext cx="1685925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9F8F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7614E1-08BA-49E1-93AA-93A1AC1C9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314575"/>
            <a:ext cx="14573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14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14F"/>
                </a:solidFill>
                <a:latin typeface="Arial"/>
                <a:ea typeface="Arial"/>
                <a:cs typeface="Arial"/>
              </a:rPr>
              <a:t>¿Cómo pido un</a:t>
            </a:r>
          </a:p>
          <a:p xmlns:a="http://schemas.openxmlformats.org/drawingml/2006/main">
            <a:pPr algn="l">
              <a:defRPr sz="1350" b="0">
                <a:solidFill>
                  <a:srgbClr val="17314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14F"/>
                </a:solidFill>
                <a:latin typeface="Arial"/>
                <a:ea typeface="Arial"/>
                <a:cs typeface="Arial"/>
              </a:rPr>
              <a:t>certificado?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0FEE5E-6F8C-4336-A31B-2334701FC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133725"/>
            <a:ext cx="16478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5F1F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95E71E-82C1-4682-B328-B9223E5E1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305175"/>
            <a:ext cx="1381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14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314F"/>
                </a:solidFill>
                <a:latin typeface="Arial"/>
                <a:ea typeface="Arial"/>
                <a:cs typeface="Arial"/>
              </a:rPr>
              <a:t>Respuesta con</a:t>
            </a:r>
          </a:p>
          <a:p xmlns:a="http://schemas.openxmlformats.org/drawingml/2006/main">
            <a:pPr algn="l">
              <a:defRPr sz="1425" b="1">
                <a:solidFill>
                  <a:srgbClr val="17314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314F"/>
                </a:solidFill>
                <a:latin typeface="Arial"/>
                <a:ea typeface="Arial"/>
                <a:cs typeface="Arial"/>
              </a:rPr>
              <a:t>fuente oficial</a:t>
            </a:r>
          </a:p>
          <a:p xmlns:a="http://schemas.openxmlformats.org/drawingml/2006/main">
            <a:pPr algn="l">
              <a:defRPr sz="1425" b="1">
                <a:solidFill>
                  <a:srgbClr val="17314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314F"/>
                </a:solidFill>
                <a:latin typeface="Arial"/>
                <a:ea typeface="Arial"/>
                <a:cs typeface="Arial"/>
              </a:rPr>
              <a:t>y enlace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488F78-D3EA-4759-AD4E-70EC97034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48400"/>
            <a:ext cx="771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8C9D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8C9D8"/>
                </a:solidFill>
                <a:latin typeface="Arial"/>
                <a:ea typeface="Arial"/>
                <a:cs typeface="Arial"/>
              </a:rPr>
              <a:t>Proyecto académico independiente · 24.09.2026</a:t>
            </a:r>
          </a:p>
        </p:txBody>
      </p:sp>
    </p:spTree>
    <p:extLst>
      <p:ext uri="{BB962C8B-B14F-4D97-AF65-F5344CB8AC3E}">
        <p14:creationId xmlns:p14="http://schemas.microsoft.com/office/powerpoint/2010/main" val="19612958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71CE6A-3116-422A-A7F7-F89732EFD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BCD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DE16BD-6B0A-4469-A7C3-1DBEECB9F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62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77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77E"/>
                </a:solidFill>
                <a:latin typeface="Arial"/>
                <a:ea typeface="Arial"/>
                <a:cs typeface="Arial"/>
              </a:rPr>
              <a:t>USUARIO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DB9357-AFBC-443D-9B4B-41E0D5648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93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B1930"/>
                </a:solidFill>
                <a:latin typeface="Arial"/>
                <a:ea typeface="Arial"/>
                <a:cs typeface="Arial"/>
              </a:rPr>
              <a:t>El estudiante que necesita resolver antes de decidir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7C1505-BE43-4DE0-A0F5-2D8FC2B5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11068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5E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F2EF45-CD95-4E8F-B065-4943020A9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77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77E"/>
                </a:solidFill>
                <a:latin typeface="Arial"/>
                <a:ea typeface="Arial"/>
                <a:cs typeface="Arial"/>
              </a:rPr>
              <a:t>NidoBot CESA  |  proyecto académico independiente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965983-B4BC-4BAA-87A6-2DE3A93FE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77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77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F422C4-7108-460B-A505-75967624F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3486150" cy="4191000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0B193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78EF03-40A2-4FEE-8E60-3E833E34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914525"/>
            <a:ext cx="838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21BCD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711A97-D104-4C54-B395-2E402C541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57400"/>
            <a:ext cx="4286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0B193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B1930"/>
                </a:solidFill>
                <a:latin typeface="Arial"/>
                <a:ea typeface="Arial"/>
                <a:cs typeface="Arial"/>
              </a:rPr>
              <a:t>J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4942D7-F223-4FE4-BB60-D859641AC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03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Juan, 4.º semestre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0B25CC-8CE7-4AA7-9669-69C1711BA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33775"/>
            <a:ext cx="2714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C9D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9D8"/>
                </a:solidFill>
                <a:latin typeface="Arial"/>
                <a:ea typeface="Arial"/>
                <a:cs typeface="Arial"/>
              </a:rPr>
              <a:t>Persona ilustrativa, no un</a:t>
            </a:r>
          </a:p>
          <a:p xmlns:a="http://schemas.openxmlformats.org/drawingml/2006/main">
            <a:pPr algn="l">
              <a:defRPr sz="1275" b="0">
                <a:solidFill>
                  <a:srgbClr val="B8C9D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9D8"/>
                </a:solidFill>
                <a:latin typeface="Arial"/>
                <a:ea typeface="Arial"/>
                <a:cs typeface="Arial"/>
              </a:rPr>
              <a:t>entrevistado identificado.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3AAE34-BF91-47C5-B19F-065EF9027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38650"/>
            <a:ext cx="27432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Busca orientación mientras organiza materias, pagos o certificados.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DEC08F-5FF3-41CC-8D7D-02CB41CC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6192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93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930"/>
                </a:solidFill>
                <a:latin typeface="Arial"/>
                <a:ea typeface="Arial"/>
                <a:cs typeface="Arial"/>
              </a:rPr>
              <a:t>Lo que necesita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63CEE1-760D-43CA-ADF3-8E870D725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71700"/>
            <a:ext cx="6858000" cy="942975"/>
          </a:xfrm>
          <a:prstGeom xmlns:a="http://schemas.openxmlformats.org/drawingml/2006/main" prst="roundRect">
            <a:avLst>
              <a:gd name="adj" fmla="val 8081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B4A80D-C6AC-4E0B-90C9-895793B19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43150"/>
            <a:ext cx="59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1BCD4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1BCD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1D1C41-D738-4766-99CF-55D19EAD7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2314575"/>
            <a:ext cx="5543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14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14F"/>
                </a:solidFill>
                <a:latin typeface="Arial"/>
                <a:ea typeface="Arial"/>
                <a:cs typeface="Arial"/>
              </a:rPr>
              <a:t>Encontrar un procedimiento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02BB8D-BD57-4056-BBF0-7EACC12D5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2628900"/>
            <a:ext cx="5543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77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77E"/>
                </a:solidFill>
                <a:latin typeface="Arial"/>
                <a:ea typeface="Arial"/>
                <a:cs typeface="Arial"/>
              </a:rPr>
              <a:t>sin saltar entre páginas y contactos.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01C798-78CF-42D2-8C79-6B30320F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314700"/>
            <a:ext cx="6858000" cy="942975"/>
          </a:xfrm>
          <a:prstGeom xmlns:a="http://schemas.openxmlformats.org/drawingml/2006/main" prst="roundRect">
            <a:avLst>
              <a:gd name="adj" fmla="val 8081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3AA7DB-FF72-495C-9A79-55D203215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86150"/>
            <a:ext cx="59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1BCD4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1BCD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908EB8-0A9D-41DC-9808-57A0EBAC6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3457575"/>
            <a:ext cx="5543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14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14F"/>
                </a:solidFill>
                <a:latin typeface="Arial"/>
                <a:ea typeface="Arial"/>
                <a:cs typeface="Arial"/>
              </a:rPr>
              <a:t>Ver la fuente y su vigencia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EC5F0D-E37E-426E-BEB0-6B427155D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3771900"/>
            <a:ext cx="5543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77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77E"/>
                </a:solidFill>
                <a:latin typeface="Arial"/>
                <a:ea typeface="Arial"/>
                <a:cs typeface="Arial"/>
              </a:rPr>
              <a:t>antes de confiar en la respuesta.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255D9B-EA94-4239-938D-AD058947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457700"/>
            <a:ext cx="6858000" cy="942975"/>
          </a:xfrm>
          <a:prstGeom xmlns:a="http://schemas.openxmlformats.org/drawingml/2006/main" prst="roundRect">
            <a:avLst>
              <a:gd name="adj" fmla="val 8081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D0EBC0-F0A5-4B99-A667-189245095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29150"/>
            <a:ext cx="59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1BCD4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1BCD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ECDCAC-1C10-4FCF-94D3-EA9882EA8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4600575"/>
            <a:ext cx="5543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14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14F"/>
                </a:solidFill>
                <a:latin typeface="Arial"/>
                <a:ea typeface="Arial"/>
                <a:cs typeface="Arial"/>
              </a:rPr>
              <a:t>Comparar horarios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9861F9-522D-49CD-863D-4AD67E72F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4914900"/>
            <a:ext cx="5543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77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77E"/>
                </a:solidFill>
                <a:latin typeface="Arial"/>
                <a:ea typeface="Arial"/>
                <a:cs typeface="Arial"/>
              </a:rPr>
              <a:t>cuando exista una integración autorizada.</a:t>
            </a:r>
          </a:p>
        </p:txBody>
      </p:sp>
    </p:spTree>
    <p:extLst>
      <p:ext uri="{BB962C8B-B14F-4D97-AF65-F5344CB8AC3E}">
        <p14:creationId xmlns:p14="http://schemas.microsoft.com/office/powerpoint/2010/main" val="7750451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9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3B3247-BC0B-4939-B795-56656532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BCD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9AE826-74BE-4242-A4DA-D8B8F3604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62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1BCD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1BCD4"/>
                </a:solidFill>
                <a:latin typeface="Arial"/>
                <a:ea typeface="Arial"/>
                <a:cs typeface="Arial"/>
              </a:rPr>
              <a:t>PROBLEMA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0A556C-FBEC-4E50-BAD7-155625C10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Las dudas se concentran justo cuando hay que actuar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0F57E3-7EAA-4636-86EA-BD1204FE1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11068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506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5570E0-054E-4F48-954C-C55AED4C9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B3C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BB3C7"/>
                </a:solidFill>
                <a:latin typeface="Arial"/>
                <a:ea typeface="Arial"/>
                <a:cs typeface="Arial"/>
              </a:rPr>
              <a:t>NidoBot CESA  |  proyecto académico independiente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E346ED-601A-4968-AEC8-9FC68119C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BB3C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BB3C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1C2888-B583-415E-A7F8-B9FB3D7DE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885950"/>
            <a:ext cx="27146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275" b="1">
                <a:solidFill>
                  <a:srgbClr val="21BCD4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21BCD4"/>
                </a:solidFill>
                <a:latin typeface="Arial"/>
                <a:ea typeface="Arial"/>
                <a:cs typeface="Arial"/>
              </a:rPr>
              <a:t>8/10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D933A1-1FA0-4508-84D3-E97E00B1D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14625"/>
            <a:ext cx="2714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tienen dudas sobre trámites o plataformas al menos ocasionalmente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3C4780-5088-45E4-8FE3-57F544772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85950"/>
            <a:ext cx="2905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275" b="1">
                <a:solidFill>
                  <a:srgbClr val="21BCD4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21BCD4"/>
                </a:solidFill>
                <a:latin typeface="Arial"/>
                <a:ea typeface="Arial"/>
                <a:cs typeface="Arial"/>
              </a:rPr>
              <a:t>7/10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BEFD46-9762-4019-95A9-6C19558B0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14625"/>
            <a:ext cx="2905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reciben respuesta desde el mismo día hasta más de dos días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4811EB-A73C-44FF-9943-3FC16318A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1885950"/>
            <a:ext cx="292417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275" b="1">
                <a:solidFill>
                  <a:srgbClr val="21BCD4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21BCD4"/>
                </a:solidFill>
                <a:latin typeface="Arial"/>
                <a:ea typeface="Arial"/>
                <a:cs typeface="Arial"/>
              </a:rPr>
              <a:t>9/10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FB1559-CC94-4E40-94A4-E0C6CEAB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714625"/>
            <a:ext cx="2924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reportan haber perdido cupo por decisiones tardías o errores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9009D7-16C2-48DA-B007-C78EB079D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9528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506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C2E929-2D69-4DEB-B456-F7FE95274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9577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CESA Contigo: 2 informantes estiman ~200 consultas en una semana normal y el doble o más en matrícula.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D03B7C-E699-4D1A-9336-01112088A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38775"/>
            <a:ext cx="5143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284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4173A3-5780-416D-93EE-3D339C035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7687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Muestras pequeñas: estudiantes n=10 · CESA Contigo n=2</a:t>
            </a:r>
          </a:p>
        </p:txBody>
      </p:sp>
    </p:spTree>
    <p:extLst>
      <p:ext uri="{BB962C8B-B14F-4D97-AF65-F5344CB8AC3E}">
        <p14:creationId xmlns:p14="http://schemas.microsoft.com/office/powerpoint/2010/main" val="12442765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901D1C-6C07-418C-8EB7-6A162B981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BCD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4FBA52-25FE-46AC-A1A4-272401D4B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62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77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77E"/>
                </a:solidFill>
                <a:latin typeface="Arial"/>
                <a:ea typeface="Arial"/>
                <a:cs typeface="Arial"/>
              </a:rPr>
              <a:t>SOLUCIÓN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8F7E52-5656-43C3-AC57-26B766790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93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B1930"/>
                </a:solidFill>
                <a:latin typeface="Arial"/>
                <a:ea typeface="Arial"/>
                <a:cs typeface="Arial"/>
              </a:rPr>
              <a:t>Un asistente; dos trabajos distintos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79F2FF-8ED9-40B1-B5CA-512D707B5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11068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5E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D6B27D-6A94-44B8-B894-270F35C48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77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77E"/>
                </a:solidFill>
                <a:latin typeface="Arial"/>
                <a:ea typeface="Arial"/>
                <a:cs typeface="Arial"/>
              </a:rPr>
              <a:t>NidoBot CESA  |  proyecto académico independiente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97D1A6-5D9D-48AC-899C-6EC2B9FB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77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77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C87BBF-9A8B-47AC-9073-31A3D029E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590675"/>
            <a:ext cx="5229225" cy="3924300"/>
          </a:xfrm>
          <a:prstGeom xmlns:a="http://schemas.openxmlformats.org/drawingml/2006/main" prst="roundRect">
            <a:avLst>
              <a:gd name="adj" fmla="val 1942"/>
            </a:avLst>
          </a:prstGeom>
          <a:solidFill xmlns:a="http://schemas.openxmlformats.org/drawingml/2006/main">
            <a:srgbClr val="E9F8F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6E289E-A90C-42E9-8591-FF67DB3F6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590675"/>
            <a:ext cx="5229225" cy="3924300"/>
          </a:xfrm>
          <a:prstGeom xmlns:a="http://schemas.openxmlformats.org/drawingml/2006/main" prst="roundRect">
            <a:avLst>
              <a:gd name="adj" fmla="val 1942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E6310B-B0D0-4691-8038-D9FA6E61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857375"/>
            <a:ext cx="2647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B193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417630-0A1F-43B1-99A8-BDB253956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1895475"/>
            <a:ext cx="245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YA DEMOSTRADO EN PROTOTIPO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459378-7664-456C-9389-AD95C0A63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1857375"/>
            <a:ext cx="34956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284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2B7FB9-56F9-4C47-98CA-99F9782B0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1895475"/>
            <a:ext cx="33051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VISIÓN CON INTEGRACIÓN AUTORIZADA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466A47-4C35-4989-9D34-8396BCA6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38125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93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1930"/>
                </a:solidFill>
                <a:latin typeface="Arial"/>
                <a:ea typeface="Arial"/>
                <a:cs typeface="Arial"/>
              </a:rPr>
              <a:t>Resolver dudas generales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5A3EA6-07DB-472B-90CE-95150E063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048000"/>
            <a:ext cx="4429125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14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314F"/>
                </a:solidFill>
                <a:latin typeface="Arial"/>
                <a:ea typeface="Arial"/>
                <a:cs typeface="Arial"/>
              </a:rPr>
              <a:t>Busca procedimientos, reglamento y servicios en una base local; responde con enlace o reconoce que falta evidencia.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6BCF7E-5DE4-4F51-BCEE-A3862AF84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38125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93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1930"/>
                </a:solidFill>
                <a:latin typeface="Arial"/>
                <a:ea typeface="Arial"/>
                <a:cs typeface="Arial"/>
              </a:rPr>
              <a:t>Planear sin matricular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248785-FB88-42E0-A4D9-339E33663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048000"/>
            <a:ext cx="44100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14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314F"/>
                </a:solidFill>
                <a:latin typeface="Arial"/>
                <a:ea typeface="Arial"/>
                <a:cs typeface="Arial"/>
              </a:rPr>
              <a:t>Con datos oficiales de oferta y permisos del CESA, sugiere horarios sin cruces y explica restricciones. El estudiante decide y matricula en Nido.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E9B486-CF61-47CD-B17D-1F9AEF57C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2452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77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77E"/>
                </a:solidFill>
                <a:latin typeface="Arial"/>
                <a:ea typeface="Arial"/>
                <a:cs typeface="Arial"/>
              </a:rPr>
              <a:t>Canal objetivo: web institucional. La encuesta sugiere web (6/10) frente a WhatsApp (4/10); Telegram es el canal de demo.</a:t>
            </a:r>
          </a:p>
        </p:txBody>
      </p:sp>
    </p:spTree>
    <p:extLst>
      <p:ext uri="{BB962C8B-B14F-4D97-AF65-F5344CB8AC3E}">
        <p14:creationId xmlns:p14="http://schemas.microsoft.com/office/powerpoint/2010/main" val="11482450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61F42C-8D59-4727-AFEA-5F33B0787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BCD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50D903-878E-4ADD-B346-9AEBB4575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62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77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77E"/>
                </a:solidFill>
                <a:latin typeface="Arial"/>
                <a:ea typeface="Arial"/>
                <a:cs typeface="Arial"/>
              </a:rPr>
              <a:t>VISIÓN FUTURA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C58515-9517-421B-A1C8-527580C23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93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B1930"/>
                </a:solidFill>
                <a:latin typeface="Arial"/>
                <a:ea typeface="Arial"/>
                <a:cs typeface="Arial"/>
              </a:rPr>
              <a:t>Así se usaría NidoBot en una matrícula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7C2588-D439-4932-867C-F20416562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11068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5E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0BA5E8-B4C4-4AF6-A353-EB5CC0FB9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77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77E"/>
                </a:solidFill>
                <a:latin typeface="Arial"/>
                <a:ea typeface="Arial"/>
                <a:cs typeface="Arial"/>
              </a:rPr>
              <a:t>NidoBot CESA  |  proyecto académico independiente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9C70FF-A774-48EE-9CEE-30F7EC36A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77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77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36F1F1-9699-4803-AA40-8F5493118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57375"/>
            <a:ext cx="2628900" cy="295275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E9F8F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A1DFA3-3D05-45BE-85CA-370292F91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28825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21BCD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C757B4-C0B4-4E54-B2B0-803459519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2571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93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93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FE7773-0B8A-4323-957C-4C2BA4BEE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71775"/>
            <a:ext cx="2286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93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1930"/>
                </a:solidFill>
                <a:latin typeface="Arial"/>
                <a:ea typeface="Arial"/>
                <a:cs typeface="Arial"/>
              </a:rPr>
              <a:t>Pregunta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4DB1E1-BC79-428B-BD30-10A3E00CF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276600"/>
            <a:ext cx="21907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14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14F"/>
                </a:solidFill>
                <a:latin typeface="Arial"/>
                <a:ea typeface="Arial"/>
                <a:cs typeface="Arial"/>
              </a:rPr>
              <a:t>“Quiero martes libres y cero cruces”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CD2FF8-2495-47D4-9B2B-269671B4F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819400"/>
            <a:ext cx="361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21BCD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1BCD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73723C-D9C2-452C-BC70-8A0ADD205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857375"/>
            <a:ext cx="2628900" cy="295275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3DA940-0A3E-4D5D-AF6C-97B6A6908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028825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21BCD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3770AB-0AB9-4C95-A29F-4225FBBA7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114550"/>
            <a:ext cx="2571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93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93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18CF55-6889-4532-82F6-5095D574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771775"/>
            <a:ext cx="2286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93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1930"/>
                </a:solidFill>
                <a:latin typeface="Arial"/>
                <a:ea typeface="Arial"/>
                <a:cs typeface="Arial"/>
              </a:rPr>
              <a:t>Permiso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2D6463-8114-4D84-9957-238C7A6EB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276600"/>
            <a:ext cx="21907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14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14F"/>
                </a:solidFill>
                <a:latin typeface="Arial"/>
                <a:ea typeface="Arial"/>
                <a:cs typeface="Arial"/>
              </a:rPr>
              <a:t>El estudiante autoriza acceso limitado a su contexto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42EBEC-5155-4189-9894-CAB6BB05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819400"/>
            <a:ext cx="361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21BCD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1BCD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35872A-9004-4020-A4F5-4000273D5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57375"/>
            <a:ext cx="2628900" cy="295275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E9F8F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09EF8E-F67C-4D58-A7F0-73B9C5F92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028825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21BCD4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367103-CAE1-43E1-89B4-526E4843B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114550"/>
            <a:ext cx="2571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93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93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F26C9A-44D4-4AE6-B93E-BB01011E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771775"/>
            <a:ext cx="2286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93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1930"/>
                </a:solidFill>
                <a:latin typeface="Arial"/>
                <a:ea typeface="Arial"/>
                <a:cs typeface="Arial"/>
              </a:rPr>
              <a:t>Cálculo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332567-C7AE-4310-B7A5-30AC9FE02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276600"/>
            <a:ext cx="21907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14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14F"/>
                </a:solidFill>
                <a:latin typeface="Arial"/>
                <a:ea typeface="Arial"/>
                <a:cs typeface="Arial"/>
              </a:rPr>
              <a:t>Motor consulta oferta oficial y evalúa combinaciones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84EBBB-26A3-4BE3-BDC5-A8DC4353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819400"/>
            <a:ext cx="361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21BCD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1BCD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73D6F9-0636-490A-BEF6-A96763B94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857375"/>
            <a:ext cx="2628900" cy="295275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C145A5-5774-47E0-9B9A-ADFDBB00A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028825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21BCD4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2F5924-FA79-49EB-A383-D7EC45B0A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114550"/>
            <a:ext cx="2571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93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93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C646EB-73E0-476E-B5DA-2ECE996FF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771775"/>
            <a:ext cx="2286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93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1930"/>
                </a:solidFill>
                <a:latin typeface="Arial"/>
                <a:ea typeface="Arial"/>
                <a:cs typeface="Arial"/>
              </a:rPr>
              <a:t>Elección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2A1194-B740-474F-A0E0-C69E2C7D0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276600"/>
            <a:ext cx="21907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14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14F"/>
                </a:solidFill>
                <a:latin typeface="Arial"/>
                <a:ea typeface="Arial"/>
                <a:cs typeface="Arial"/>
              </a:rPr>
              <a:t>Muestra opciones y trade-offs; no inscribe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507FDE-2BAA-4DAC-A89A-728C16B9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172075"/>
            <a:ext cx="1105852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B1930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C069C0-53A8-4435-ADAA-174D973F0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768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Condición de entrada: convenio, datos de Nido, autorización y pruebas de seguridad. Hoy ninguna de estas integraciones está activa.</a:t>
            </a:r>
          </a:p>
        </p:txBody>
      </p:sp>
    </p:spTree>
    <p:extLst>
      <p:ext uri="{BB962C8B-B14F-4D97-AF65-F5344CB8AC3E}">
        <p14:creationId xmlns:p14="http://schemas.microsoft.com/office/powerpoint/2010/main" val="13937670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62DD6E-F7CE-4D5F-9644-4C6DA0FD6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BCD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D4CBB8-5C71-4ED6-B996-A557FD42D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62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77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77E"/>
                </a:solidFill>
                <a:latin typeface="Arial"/>
                <a:ea typeface="Arial"/>
                <a:cs typeface="Arial"/>
              </a:rPr>
              <a:t>PROTOTIPO HOY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EDD6F9-A34A-4AF0-B5DF-CE996942A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93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B1930"/>
                </a:solidFill>
                <a:latin typeface="Arial"/>
                <a:ea typeface="Arial"/>
                <a:cs typeface="Arial"/>
              </a:rPr>
              <a:t>Una consulta real entra por Telegram y obtiene respaldo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55487E-F840-4A34-A808-F1AE99385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11068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5E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539B6C-1A5A-46BE-8BC2-B3AEA2064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77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77E"/>
                </a:solidFill>
                <a:latin typeface="Arial"/>
                <a:ea typeface="Arial"/>
                <a:cs typeface="Arial"/>
              </a:rPr>
              <a:t>NidoBot CESA  |  proyecto académico independiente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C683AC-7AC9-4698-89F6-7E400837F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77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77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577693-ECCA-4B38-A1D7-F35B384AF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571625"/>
            <a:ext cx="3524250" cy="430530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0B193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8402CB-E8CC-4CC3-8341-C30539112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0225"/>
            <a:ext cx="3162300" cy="388620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BF8C4E-3732-4EBB-87EC-CBD7B4933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0225"/>
            <a:ext cx="3162300" cy="542925"/>
          </a:xfrm>
          <a:prstGeom xmlns:a="http://schemas.openxmlformats.org/drawingml/2006/main" prst="roundRect">
            <a:avLst>
              <a:gd name="adj" fmla="val 14035"/>
            </a:avLst>
          </a:prstGeom>
          <a:solidFill xmlns:a="http://schemas.openxmlformats.org/drawingml/2006/main">
            <a:srgbClr val="10284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092739-7992-4DA1-A434-63F504C9D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924050"/>
            <a:ext cx="2762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CESA · asistente de prueba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BBE8AB-B4D0-4E16-B159-0271B197B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2571750"/>
            <a:ext cx="2143125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9F8F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5A0A1B-1F2C-48BC-9D28-1A2548B52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62890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314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14F"/>
                </a:solidFill>
                <a:latin typeface="Arial"/>
                <a:ea typeface="Arial"/>
                <a:cs typeface="Arial"/>
              </a:rPr>
              <a:t>¿Cómo solicito un</a:t>
            </a:r>
          </a:p>
          <a:p xmlns:a="http://schemas.openxmlformats.org/drawingml/2006/main">
            <a:pPr algn="l">
              <a:defRPr sz="1275" b="0">
                <a:solidFill>
                  <a:srgbClr val="17314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14F"/>
                </a:solidFill>
                <a:latin typeface="Arial"/>
                <a:ea typeface="Arial"/>
                <a:cs typeface="Arial"/>
              </a:rPr>
              <a:t>certificado de estudios?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12343A-7A0E-4D48-9A14-D6169040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438525"/>
            <a:ext cx="2609850" cy="1590675"/>
          </a:xfrm>
          <a:prstGeom xmlns:a="http://schemas.openxmlformats.org/drawingml/2006/main" prst="roundRect">
            <a:avLst>
              <a:gd name="adj" fmla="val 4790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DC1E2A-4FB7-4167-8F26-3D68B869B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571875"/>
            <a:ext cx="2333625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14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14F"/>
                </a:solidFill>
                <a:latin typeface="Arial"/>
                <a:ea typeface="Arial"/>
                <a:cs typeface="Arial"/>
              </a:rPr>
              <a:t>En Nido Académico:</a:t>
            </a:r>
          </a:p>
          <a:p xmlns:a="http://schemas.openxmlformats.org/drawingml/2006/main">
            <a:pPr algn="l">
              <a:defRPr sz="1200" b="0">
                <a:solidFill>
                  <a:srgbClr val="17314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14F"/>
                </a:solidFill>
                <a:latin typeface="Arial"/>
                <a:ea typeface="Arial"/>
                <a:cs typeface="Arial"/>
              </a:rPr>
              <a:t>Autoservicio → Solicitud de servicio → Certificados.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7314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14F"/>
                </a:solidFill>
                <a:latin typeface="Arial"/>
                <a:ea typeface="Arial"/>
                <a:cs typeface="Arial"/>
              </a:rPr>
              <a:t>Fuente: Registro y Control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2A4BD7-00DC-43E7-8B0E-CA61F315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4307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9B8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C9B82"/>
                </a:solidFill>
                <a:latin typeface="Arial"/>
                <a:ea typeface="Arial"/>
                <a:cs typeface="Arial"/>
              </a:rPr>
              <a:t>DEMOSTRADO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E1DCBB-365C-4667-A38C-F99B67BED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43125"/>
            <a:ext cx="6400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93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1930"/>
                </a:solidFill>
                <a:latin typeface="Arial"/>
                <a:ea typeface="Arial"/>
                <a:cs typeface="Arial"/>
              </a:rPr>
              <a:t>OpenClaw llama a `cesa_lookup`; el servicio local responde desde SQLite.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469128-26CC-491D-B1EA-CBE69594D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24250"/>
            <a:ext cx="6562725" cy="1514475"/>
          </a:xfrm>
          <a:prstGeom xmlns:a="http://schemas.openxmlformats.org/drawingml/2006/main" prst="roundRect">
            <a:avLst>
              <a:gd name="adj" fmla="val 5031"/>
            </a:avLst>
          </a:prstGeom>
          <a:solidFill xmlns:a="http://schemas.openxmlformats.org/drawingml/2006/main">
            <a:srgbClr val="E9F8F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2940F0-19D7-4C3B-B69F-241968D86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14750"/>
            <a:ext cx="60483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14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314F"/>
                </a:solidFill>
                <a:latin typeface="Arial"/>
                <a:ea typeface="Arial"/>
                <a:cs typeface="Arial"/>
              </a:rPr>
              <a:t>Si falta una respuesta, puede consultar una página pública delimitada; el texto nuevo queda pendiente de revisión y el bot se abstiene si no hay evidencia suficiente.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70B44D-D57B-435B-BB44-C32F69D6F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334000"/>
            <a:ext cx="6191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7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E"/>
                </a:solidFill>
                <a:latin typeface="Arial"/>
                <a:ea typeface="Arial"/>
                <a:cs typeface="Arial"/>
              </a:rPr>
              <a:t>Sin notas personales · Sin login Nido · Sin matrícula automática</a:t>
            </a:r>
          </a:p>
        </p:txBody>
      </p:sp>
    </p:spTree>
    <p:extLst>
      <p:ext uri="{BB962C8B-B14F-4D97-AF65-F5344CB8AC3E}">
        <p14:creationId xmlns:p14="http://schemas.microsoft.com/office/powerpoint/2010/main" val="7525651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DC12AB-7BA8-49BB-AE27-6DAFF493D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BCD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5E959B-B7A5-413F-9201-282D8155E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62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77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77E"/>
                </a:solidFill>
                <a:latin typeface="Arial"/>
                <a:ea typeface="Arial"/>
                <a:cs typeface="Arial"/>
              </a:rPr>
              <a:t>ARQUITECTURA ACTUAL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B95D9E-BECE-4A69-89DA-38260D2E4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93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B1930"/>
                </a:solidFill>
                <a:latin typeface="Arial"/>
                <a:ea typeface="Arial"/>
                <a:cs typeface="Arial"/>
              </a:rPr>
              <a:t>La respuesta sale de una fuente, no de una promesa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DC368E-3C4A-477E-8E69-16E8E988C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11068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5E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53BDC4-7A21-44D2-A6EF-820A3A326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77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77E"/>
                </a:solidFill>
                <a:latin typeface="Arial"/>
                <a:ea typeface="Arial"/>
                <a:cs typeface="Arial"/>
              </a:rPr>
              <a:t>NidoBot CESA  |  proyecto académico independiente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98D0F1-E6DC-4570-A6C7-750DCD212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77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77E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386B85-413C-43F8-86F4-B29BC067F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26098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9F8F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E848E5-F889-462E-9390-2E10310C1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2266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93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930"/>
                </a:solidFill>
                <a:latin typeface="Arial"/>
                <a:ea typeface="Arial"/>
                <a:cs typeface="Arial"/>
              </a:rPr>
              <a:t>Estudiante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D7C369-EA73-4062-878C-2E1B4CFEC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00325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7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E"/>
                </a:solidFill>
                <a:latin typeface="Arial"/>
                <a:ea typeface="Arial"/>
                <a:cs typeface="Arial"/>
              </a:rPr>
              <a:t>mensaje en Telegram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0A65B8-AAF7-4108-9612-6E5695297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314575"/>
            <a:ext cx="323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1BCD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1BCD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70F7D0-AB99-466C-A8BC-BC31B3544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971675"/>
            <a:ext cx="26098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B44538-DF95-4087-A8E0-CE45530BF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190750"/>
            <a:ext cx="2266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93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930"/>
                </a:solidFill>
                <a:latin typeface="Arial"/>
                <a:ea typeface="Arial"/>
                <a:cs typeface="Arial"/>
              </a:rPr>
              <a:t>Agente OpenClaw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0EBE4D-BD60-49EE-906F-B2850570B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600325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7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E"/>
                </a:solidFill>
                <a:latin typeface="Arial"/>
                <a:ea typeface="Arial"/>
                <a:cs typeface="Arial"/>
              </a:rPr>
              <a:t>solo `cesa_lookup`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FED40E-3C8D-45A1-84B1-73AFB75A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314575"/>
            <a:ext cx="323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1BCD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1BCD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7AEF61-04DA-40AA-82EE-B6D37E8E9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71675"/>
            <a:ext cx="26098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9F8F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3C3BB3-A1EA-4019-A5A9-1031324FD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190750"/>
            <a:ext cx="2266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93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930"/>
                </a:solidFill>
                <a:latin typeface="Arial"/>
                <a:ea typeface="Arial"/>
                <a:cs typeface="Arial"/>
              </a:rPr>
              <a:t>Servicio Python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9EF018-0F1A-4A44-9023-377354178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600325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7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E"/>
                </a:solidFill>
                <a:latin typeface="Arial"/>
                <a:ea typeface="Arial"/>
                <a:cs typeface="Arial"/>
              </a:rPr>
              <a:t>/api/chat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E95EF0-6E41-4C03-87C5-EF1F90A99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314575"/>
            <a:ext cx="323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1BCD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1BCD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1EDB3F-C831-4370-86A0-AF4CCACBD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971675"/>
            <a:ext cx="26098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99D3C6-1330-4933-BB4B-0F597C0A2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190750"/>
            <a:ext cx="2266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93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930"/>
                </a:solidFill>
                <a:latin typeface="Arial"/>
                <a:ea typeface="Arial"/>
                <a:cs typeface="Arial"/>
              </a:rPr>
              <a:t>SQLite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0CBD9D-AD07-4BF2-BD93-91C08556C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600325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7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E"/>
                </a:solidFill>
                <a:latin typeface="Arial"/>
                <a:ea typeface="Arial"/>
                <a:cs typeface="Arial"/>
              </a:rPr>
              <a:t>fichas + texto + fuentes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AE0ED7-3ED5-4330-8FEA-53E96B781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276600"/>
            <a:ext cx="1047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7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E"/>
                </a:solidFill>
                <a:latin typeface="Arial"/>
                <a:ea typeface="Arial"/>
                <a:cs typeface="Arial"/>
              </a:rPr>
              <a:t>La web local consulta /api/chat directamente, sin pasar por OpenClaw.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C49C9C-6CC6-477F-B623-7C1419FD6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705225"/>
            <a:ext cx="523875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0B1930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54B943-FA6A-4BCE-840F-A99E8DC87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52875"/>
            <a:ext cx="433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Evidencia suficiente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DCFA57-5296-4013-A3BA-F11BC0B0C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24375"/>
            <a:ext cx="45053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Responde con fuente; si hay conflicto, muestra la incertidumbre.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9AD37E-FDC8-4586-96E8-C11F39429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705225"/>
            <a:ext cx="523875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102848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A2043E-69EB-4CA8-9D83-73C0607A5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952875"/>
            <a:ext cx="4343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 hay cobertura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15545D-C6E8-48B0-B758-46F2E2275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524375"/>
            <a:ext cx="44862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Consulta una URL pública permitida, guarda el texto y se abstiene hasta verificar.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3F788E-C916-4109-A7B0-E54F442D6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886450"/>
            <a:ext cx="10458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7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E"/>
                </a:solidFill>
                <a:latin typeface="Arial"/>
                <a:ea typeface="Arial"/>
                <a:cs typeface="Arial"/>
              </a:rPr>
              <a:t>Apify/Composio y OpenAI Responses en el backend: opciones previstas, no verificadas en vivo.</a:t>
            </a:r>
          </a:p>
        </p:txBody>
      </p:sp>
    </p:spTree>
    <p:extLst>
      <p:ext uri="{BB962C8B-B14F-4D97-AF65-F5344CB8AC3E}">
        <p14:creationId xmlns:p14="http://schemas.microsoft.com/office/powerpoint/2010/main" val="17413348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86BDB6-15E7-41C2-98BB-2B909664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BCD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D5BD35-6E2A-49A6-BDE3-6A718CF3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62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77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77E"/>
                </a:solidFill>
                <a:latin typeface="Arial"/>
                <a:ea typeface="Arial"/>
                <a:cs typeface="Arial"/>
              </a:rPr>
              <a:t>MOCKUPS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FC8D54-8E27-4D28-9053-A4F3FBFF4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93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B1930"/>
                </a:solidFill>
                <a:latin typeface="Arial"/>
                <a:ea typeface="Arial"/>
                <a:cs typeface="Arial"/>
              </a:rPr>
              <a:t>Lo que se ve hoy y lo que solo se propone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17B589-FF8A-4E0B-8EFA-F57B9ADAA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11068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5E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66C163-59A4-4B0E-9519-BC7DB3A76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77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77E"/>
                </a:solidFill>
                <a:latin typeface="Arial"/>
                <a:ea typeface="Arial"/>
                <a:cs typeface="Arial"/>
              </a:rPr>
              <a:t>NidoBot CESA  |  proyecto académico independiente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613E4C-C2E6-4B4B-9D5D-A90D5F3E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77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77E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54FF32-0761-49C5-91CC-E461D9D43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19250"/>
            <a:ext cx="2190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B193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94226E-3E1F-4A57-9E66-9C19F7F36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573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ACTUAL · TELEGRAM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364AEB-B9CD-48A4-AA05-FB60FF82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1619250"/>
            <a:ext cx="29718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284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733512-A4C1-4D33-9591-AB08CA73F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657350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FUTURO · WEB INSTITUCIONAL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0A8CEF-440C-4D43-833B-B483B44B9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57400"/>
            <a:ext cx="3629025" cy="3571875"/>
          </a:xfrm>
          <a:prstGeom xmlns:a="http://schemas.openxmlformats.org/drawingml/2006/main" prst="roundRect">
            <a:avLst>
              <a:gd name="adj" fmla="val 2133"/>
            </a:avLst>
          </a:prstGeom>
          <a:solidFill xmlns:a="http://schemas.openxmlformats.org/drawingml/2006/main">
            <a:srgbClr val="0B193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0C4F31-BCF8-42D8-8A1F-9EF51543C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00275"/>
            <a:ext cx="3324225" cy="3267075"/>
          </a:xfrm>
          <a:prstGeom xmlns:a="http://schemas.openxmlformats.org/drawingml/2006/main" prst="roundRect">
            <a:avLst>
              <a:gd name="adj" fmla="val 23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48CE96-9FB9-4D03-83BE-D6D30F688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00275"/>
            <a:ext cx="3324225" cy="485775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10284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577D3E-4F3D-4C8A-B022-2627F4CA8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324100"/>
            <a:ext cx="295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NidoBot · consulta general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E35A30-3B42-413B-AF50-77CB35A35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933700"/>
            <a:ext cx="235267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9F8F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DEBF84-82BE-429B-9E7C-0FAE031F2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038475"/>
            <a:ext cx="21050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14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14F"/>
                </a:solidFill>
                <a:latin typeface="Arial"/>
                <a:ea typeface="Arial"/>
                <a:cs typeface="Arial"/>
              </a:rPr>
              <a:t>¿Cuáles son mis notas?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0DDCC8-4728-4A7E-8E41-835CD2D20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733800"/>
            <a:ext cx="2724150" cy="1133475"/>
          </a:xfrm>
          <a:prstGeom xmlns:a="http://schemas.openxmlformats.org/drawingml/2006/main" prst="roundRect">
            <a:avLst>
              <a:gd name="adj" fmla="val 6723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E7507A-245B-403D-A428-9695BD7C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857625"/>
            <a:ext cx="24574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14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14F"/>
                </a:solidFill>
                <a:latin typeface="Arial"/>
                <a:ea typeface="Arial"/>
                <a:cs typeface="Arial"/>
              </a:rPr>
              <a:t>No tengo acceso a tus notas. Entra a Nido con tu cuenta institucional.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06F94F-BB26-47C1-BCFE-47C5FDA37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57400"/>
            <a:ext cx="4181475" cy="3571875"/>
          </a:xfrm>
          <a:prstGeom xmlns:a="http://schemas.openxmlformats.org/drawingml/2006/main" prst="roundRect">
            <a:avLst>
              <a:gd name="adj" fmla="val 2133"/>
            </a:avLst>
          </a:prstGeom>
          <a:solidFill xmlns:a="http://schemas.openxmlformats.org/drawingml/2006/main">
            <a:srgbClr val="10284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B8A92D-CEDD-4A09-BC1C-779126F84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200275"/>
            <a:ext cx="3876675" cy="3267075"/>
          </a:xfrm>
          <a:prstGeom xmlns:a="http://schemas.openxmlformats.org/drawingml/2006/main" prst="roundRect">
            <a:avLst>
              <a:gd name="adj" fmla="val 23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C855A4-855D-48E5-878B-BFC55A5E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200275"/>
            <a:ext cx="3876675" cy="485775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0B1930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515B4C-3AD8-4B06-9867-C132570FF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324100"/>
            <a:ext cx="323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Planear horario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0E1B97-5C18-4A57-B6B9-FC1CE7B8C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8575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77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77E"/>
                </a:solidFill>
                <a:latin typeface="Arial"/>
                <a:ea typeface="Arial"/>
                <a:cs typeface="Arial"/>
              </a:rPr>
              <a:t>Preferencias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FFDD25-7243-45F1-A306-46BFB2EBF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171825"/>
            <a:ext cx="13049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9F8FB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D7309E-5523-4401-B60F-60ABAB58A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09925"/>
            <a:ext cx="1114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314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314F"/>
                </a:solidFill>
                <a:latin typeface="Arial"/>
                <a:ea typeface="Arial"/>
                <a:cs typeface="Arial"/>
              </a:rPr>
              <a:t>Martes libre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6FECC0-6132-482D-B213-654FD7820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3171825"/>
            <a:ext cx="1257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9F8FB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FE1106-877B-4763-9A10-5AF9A2C68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209925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314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314F"/>
                </a:solidFill>
                <a:latin typeface="Arial"/>
                <a:ea typeface="Arial"/>
                <a:cs typeface="Arial"/>
              </a:rPr>
              <a:t>Sin cruces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070B40-90B1-46A0-AF20-E200006AC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724275"/>
            <a:ext cx="34290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E5B657-B782-45BF-BD6A-D7DA84CC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57625"/>
            <a:ext cx="304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14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14F"/>
                </a:solidFill>
                <a:latin typeface="Arial"/>
                <a:ea typeface="Arial"/>
                <a:cs typeface="Arial"/>
              </a:rPr>
              <a:t>Opción A · 16 créditos</a:t>
            </a:r>
          </a:p>
          <a:p xmlns:a="http://schemas.openxmlformats.org/drawingml/2006/main">
            <a:pPr algn="l">
              <a:defRPr sz="1425" b="0">
                <a:solidFill>
                  <a:srgbClr val="17314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14F"/>
                </a:solidFill>
                <a:latin typeface="Arial"/>
                <a:ea typeface="Arial"/>
                <a:cs typeface="Arial"/>
              </a:rPr>
              <a:t>Lun–Vie · 2 huecos</a:t>
            </a:r>
          </a:p>
          <a:p xmlns:a="http://schemas.openxmlformats.org/drawingml/2006/main">
            <a:pPr algn="l">
              <a:defRPr sz="1425" b="0">
                <a:solidFill>
                  <a:srgbClr val="17314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14F"/>
                </a:solidFill>
                <a:latin typeface="Arial"/>
                <a:ea typeface="Arial"/>
                <a:cs typeface="Arial"/>
              </a:rPr>
              <a:t>Ver detalle de materias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3F9970-6A33-432F-8F0B-3D6EDDCD2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5086350"/>
            <a:ext cx="3448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77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E"/>
                </a:solidFill>
                <a:latin typeface="Arial"/>
                <a:ea typeface="Arial"/>
                <a:cs typeface="Arial"/>
              </a:rPr>
              <a:t>El estudiante verifica e inscribe en Nido</a:t>
            </a:r>
          </a:p>
        </p:txBody>
      </p:sp>
    </p:spTree>
    <p:extLst>
      <p:ext uri="{BB962C8B-B14F-4D97-AF65-F5344CB8AC3E}">
        <p14:creationId xmlns:p14="http://schemas.microsoft.com/office/powerpoint/2010/main" val="17092276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8390BA-1D21-49EA-B879-1BA329431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BCD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A1F2C1-4649-4EE9-878E-615949DB3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62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77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77E"/>
                </a:solidFill>
                <a:latin typeface="Arial"/>
                <a:ea typeface="Arial"/>
                <a:cs typeface="Arial"/>
              </a:rPr>
              <a:t>PRUEBAS Y LÍMITES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5F10CE-9843-4084-8271-43DA9F8D0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93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B1930"/>
                </a:solidFill>
                <a:latin typeface="Arial"/>
                <a:ea typeface="Arial"/>
                <a:cs typeface="Arial"/>
              </a:rPr>
              <a:t>La prueba interna mide rutas; no precisión real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1A91FF-7F44-41B9-A5BE-AC6F300DA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11068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5E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BA18AC-676F-4F05-AD3B-A5DCE533D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77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77E"/>
                </a:solidFill>
                <a:latin typeface="Arial"/>
                <a:ea typeface="Arial"/>
                <a:cs typeface="Arial"/>
              </a:rPr>
              <a:t>NidoBot CESA  |  proyecto académico independiente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0DD843-1A81-42CB-AFF0-DCF3F840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77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77E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B19A06-CB1F-47C6-9D46-99AF0BAD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5343525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0B193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9E5AEA-1249-4527-953F-FD564669E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05000"/>
            <a:ext cx="43338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21BCD4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21BCD4"/>
                </a:solidFill>
                <a:latin typeface="Arial"/>
                <a:ea typeface="Arial"/>
                <a:cs typeface="Arial"/>
              </a:rPr>
              <a:t>50/50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1FE1FD-27C9-4F0F-9700-BBCE203B2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95600"/>
            <a:ext cx="4476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coincidencias automatizadas de estado y enlace en preguntas simuladas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DAEB5A-7B4D-4B46-B5C0-BABB9328D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00525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30 con fuente oficial   ·   8 con material aportado   ·   12 abstenciones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D69E08-C799-4FA9-B519-B578C72A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619250"/>
            <a:ext cx="5076825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1956E5-6EF4-45E2-BB20-76D62403F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933575"/>
            <a:ext cx="430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93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1930"/>
                </a:solidFill>
                <a:latin typeface="Arial"/>
                <a:ea typeface="Arial"/>
                <a:cs typeface="Arial"/>
              </a:rPr>
              <a:t>Lo que falta probar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9ED6A4-FCF4-4551-93B3-E3B8B6B26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581275"/>
            <a:ext cx="4429125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14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14F"/>
                </a:solidFill>
                <a:latin typeface="Arial"/>
                <a:ea typeface="Arial"/>
                <a:cs typeface="Arial"/>
              </a:rPr>
              <a:t>• Exactitud con estudiantes reales</a:t>
            </a:r>
          </a:p>
          <a:p xmlns:a="http://schemas.openxmlformats.org/drawingml/2006/main">
            <a:pPr algn="l">
              <a:defRPr sz="1650" b="0">
                <a:solidFill>
                  <a:srgbClr val="17314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14F"/>
                </a:solidFill>
                <a:latin typeface="Arial"/>
                <a:ea typeface="Arial"/>
                <a:cs typeface="Arial"/>
              </a:rPr>
              <a:t>• Vigencia de las fuentes</a:t>
            </a:r>
          </a:p>
          <a:p xmlns:a="http://schemas.openxmlformats.org/drawingml/2006/main">
            <a:pPr algn="l">
              <a:defRPr sz="1650" b="0">
                <a:solidFill>
                  <a:srgbClr val="17314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14F"/>
                </a:solidFill>
                <a:latin typeface="Arial"/>
                <a:ea typeface="Arial"/>
                <a:cs typeface="Arial"/>
              </a:rPr>
              <a:t>• Experiencia de uso y tiempos</a:t>
            </a:r>
          </a:p>
          <a:p xmlns:a="http://schemas.openxmlformats.org/drawingml/2006/main">
            <a:pPr algn="l">
              <a:defRPr sz="1650" b="0">
                <a:solidFill>
                  <a:srgbClr val="17314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14F"/>
                </a:solidFill>
                <a:latin typeface="Arial"/>
                <a:ea typeface="Arial"/>
                <a:cs typeface="Arial"/>
              </a:rPr>
              <a:t>• Integración autorizada con Nido</a:t>
            </a:r>
          </a:p>
          <a:p xmlns:a="http://schemas.openxmlformats.org/drawingml/2006/main">
            <a:pPr algn="l">
              <a:defRPr sz="1650" b="0">
                <a:solidFill>
                  <a:srgbClr val="17314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14F"/>
                </a:solidFill>
                <a:latin typeface="Arial"/>
                <a:ea typeface="Arial"/>
                <a:cs typeface="Arial"/>
              </a:rPr>
              <a:t>• Seguridad y costos de operación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FC44DE-93A3-4B0C-B4AF-63CD9B32A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95925"/>
            <a:ext cx="10763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9F8F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CDF8F1-0742-47F1-AF92-1C826C129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314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14F"/>
                </a:solidFill>
                <a:latin typeface="Arial"/>
                <a:ea typeface="Arial"/>
                <a:cs typeface="Arial"/>
              </a:rPr>
              <a:t>Una fuente oficial también puede estar desactualizada: la ubicación del Laboratorio Financiero sigue en conflicto y se comunica como tal.</a:t>
            </a:r>
          </a:p>
        </p:txBody>
      </p:sp>
    </p:spTree>
    <p:extLst>
      <p:ext uri="{BB962C8B-B14F-4D97-AF65-F5344CB8AC3E}">
        <p14:creationId xmlns:p14="http://schemas.microsoft.com/office/powerpoint/2010/main" val="68805819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B6DDCE-5D7F-4094-A898-59A7EEBD9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BCD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0EA959-427C-453B-8BDE-951484A4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62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77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77E"/>
                </a:solidFill>
                <a:latin typeface="Arial"/>
                <a:ea typeface="Arial"/>
                <a:cs typeface="Arial"/>
              </a:rPr>
              <a:t>ESCALAMIENTO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BA2AD8-D75D-4C47-AC16-B3DC6BACC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93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B1930"/>
                </a:solidFill>
                <a:latin typeface="Arial"/>
                <a:ea typeface="Arial"/>
                <a:cs typeface="Arial"/>
              </a:rPr>
              <a:t>El paso siguiente es institucional, no otro prompt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8C63F6-9F83-40E6-B4E4-1665853B4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11068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5E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2A8D39-F6D3-4EA3-8384-A7D341866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77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77E"/>
                </a:solidFill>
                <a:latin typeface="Arial"/>
                <a:ea typeface="Arial"/>
                <a:cs typeface="Arial"/>
              </a:rPr>
              <a:t>NidoBot CESA  |  proyecto académico independiente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DE0E32-25F1-4E63-9C83-4BEEC793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77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77E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6B4175-1622-4F44-B3A1-E87A045B0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571625"/>
            <a:ext cx="10753725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9F8F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4D1E03-5D04-4990-BEA7-94F067843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1BCD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1BCD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EC9B5E-6093-4E9E-9D06-E511EAEB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95450"/>
            <a:ext cx="3162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93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930"/>
                </a:solidFill>
                <a:latin typeface="Arial"/>
                <a:ea typeface="Arial"/>
                <a:cs typeface="Arial"/>
              </a:rPr>
              <a:t>Consolidar respuestas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8ECAF3-3161-4948-B2A8-0248FB98D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95450"/>
            <a:ext cx="6238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14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14F"/>
                </a:solidFill>
                <a:latin typeface="Arial"/>
                <a:ea typeface="Arial"/>
                <a:cs typeface="Arial"/>
              </a:rPr>
              <a:t>Dueño de contenido, fecha de revisión, enlaces y pruebas con preguntas reales.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B4F12D-C231-4E92-8FF4-0A06BC3DF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667000"/>
            <a:ext cx="10753725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EB1C58-9D20-4F0C-A29D-22945D5C7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47975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1BCD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1BCD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F2CAFE-4DB6-4EC3-A834-B7C82BB80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90825"/>
            <a:ext cx="3162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93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930"/>
                </a:solidFill>
                <a:latin typeface="Arial"/>
                <a:ea typeface="Arial"/>
                <a:cs typeface="Arial"/>
              </a:rPr>
              <a:t>Validar canal web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0E4465-56FB-4614-B3FF-01D99192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90825"/>
            <a:ext cx="6238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14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14F"/>
                </a:solidFill>
                <a:latin typeface="Arial"/>
                <a:ea typeface="Arial"/>
                <a:cs typeface="Arial"/>
              </a:rPr>
              <a:t>Piloto autorizado en entorno CESA; medir resolución y derivación a personas.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4AD68F-E2E8-4783-8692-92B2A2C15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762375"/>
            <a:ext cx="10753725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9F8F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C66722-CA7F-45EF-9C6C-9DFC51D9E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4335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1BCD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1BCD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24D566-9576-4ADA-9722-80896B8D6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86200"/>
            <a:ext cx="3162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93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930"/>
                </a:solidFill>
                <a:latin typeface="Arial"/>
                <a:ea typeface="Arial"/>
                <a:cs typeface="Arial"/>
              </a:rPr>
              <a:t>Integrar Nido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E22C84-2C0D-4FD5-A640-F63AB1AFA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86200"/>
            <a:ext cx="6238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14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14F"/>
                </a:solidFill>
                <a:latin typeface="Arial"/>
                <a:ea typeface="Arial"/>
                <a:cs typeface="Arial"/>
              </a:rPr>
              <a:t>Solo con permisos, API, seguridad, datos de oferta y consentimiento.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E4B2AA-972A-4717-A31A-29556579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857750"/>
            <a:ext cx="10753725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41CAC4-A55A-453F-ACC9-F279081D9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38725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1BCD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1BCD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8E1CC8-B3ED-40DC-B2D1-2E740F43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81575"/>
            <a:ext cx="3162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93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930"/>
                </a:solidFill>
                <a:latin typeface="Arial"/>
                <a:ea typeface="Arial"/>
                <a:cs typeface="Arial"/>
              </a:rPr>
              <a:t>Construir horarios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86C561-8656-429E-81F1-5F52BB810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981575"/>
            <a:ext cx="6238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14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14F"/>
                </a:solidFill>
                <a:latin typeface="Arial"/>
                <a:ea typeface="Arial"/>
                <a:cs typeface="Arial"/>
              </a:rPr>
              <a:t>Solver con NRC oficiales; validar cruces y restricciones antes de recomendar.</a:t>
            </a:r>
          </a:p>
        </p:txBody>
      </p:sp>
    </p:spTree>
    <p:extLst>
      <p:ext uri="{BB962C8B-B14F-4D97-AF65-F5344CB8AC3E}">
        <p14:creationId xmlns:p14="http://schemas.microsoft.com/office/powerpoint/2010/main" val="118713704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9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295A31-3717-4594-873C-0E65135BE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BCD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015AD1-7215-4FDE-9720-84311B66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62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1BCD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1BCD4"/>
                </a:solidFill>
                <a:latin typeface="Arial"/>
                <a:ea typeface="Arial"/>
                <a:cs typeface="Arial"/>
              </a:rPr>
              <a:t>CONCLUSIÓN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297838-E518-4B16-9E6B-6DB37DFC8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NidoBot ya prueba la respuesta con fuentes; la visión requiere al CESA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DB481C-7E1F-44A0-BFB2-472D5307F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11068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506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D2F642-0E8F-4282-ADEF-B8426B730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B3C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BB3C7"/>
                </a:solidFill>
                <a:latin typeface="Arial"/>
                <a:ea typeface="Arial"/>
                <a:cs typeface="Arial"/>
              </a:rPr>
              <a:t>NidoBot CESA  |  proyecto académico independiente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4B53C7-967E-46CE-91D7-66B679C19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BB3C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BB3C7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210198-CDA6-4D66-8CA4-D15AB1EC4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24098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1BCD4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21BCD4"/>
                </a:solidFill>
                <a:latin typeface="Arial"/>
                <a:ea typeface="Arial"/>
                <a:cs typeface="Arial"/>
              </a:rPr>
              <a:t>Hoy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A872F1-5C23-4055-9515-88C156C92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42957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Consulta general</a:t>
            </a:r>
          </a:p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+ fuente o abstención</a:t>
            </a:r>
          </a:p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+ Telegram/web local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D18835-3D0B-4739-B81C-EF766ADE9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733550"/>
            <a:ext cx="0" cy="3552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506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BAEE0C-E5C7-4CDC-928E-CDAFEA13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335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1BCD4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21BCD4"/>
                </a:solidFill>
                <a:latin typeface="Arial"/>
                <a:ea typeface="Arial"/>
                <a:cs typeface="Arial"/>
              </a:rPr>
              <a:t>Siguiente decisión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A1868E-98A5-482A-826D-CBA48E6D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43150"/>
            <a:ext cx="4762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Validar con estudiantes y CESA Contigo; acordar fuentes, permisos y una integración segura antes de hablar de horarios personalizados.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C959D1-A296-458E-8FC8-11DFE6080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267325"/>
            <a:ext cx="10563225" cy="638175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10284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99CAD1-6C4A-4DF7-8F14-AECB81DEB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19725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Sin datos personales ni API autorizada, el optimizador sigue siendo una propuesta.</a:t>
            </a:r>
          </a:p>
        </p:txBody>
      </p:sp>
    </p:spTree>
    <p:extLst>
      <p:ext uri="{BB962C8B-B14F-4D97-AF65-F5344CB8AC3E}">
        <p14:creationId xmlns:p14="http://schemas.microsoft.com/office/powerpoint/2010/main" val="523025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2026-09-24T22:30:26.8890000Z</dcterms:created>
  <dcterms:modified xsi:type="dcterms:W3CDTF">2026-09-24T22:30:26.8890000Z</dcterms:modified>
</coreProperties>
</file>