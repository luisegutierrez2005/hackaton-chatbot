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6497b174045de" /><Relationship Type="http://schemas.openxmlformats.org/officeDocument/2006/relationships/extended-properties" Target="/docProps/app.xml" Id="Re21ad0e092514f0e" /><Relationship Type="http://schemas.openxmlformats.org/officeDocument/2006/relationships/officeDocument" Target="/ppt/presentation.xml" Id="R1a76691c5caa4c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ae6677c824c70"/>
  </p:sldMasterIdLst>
  <p:notesMasterIdLst>
    <p:notesMasterId xmlns:r="http://schemas.openxmlformats.org/officeDocument/2006/relationships" r:id="R2662697d4e7c46db"/>
  </p:notesMasterIdLst>
  <p:sldIdLst>
    <p:sldId xmlns:r="http://schemas.openxmlformats.org/officeDocument/2006/relationships" id="256" r:id="R794fd7fdcb214210"/>
    <p:sldId xmlns:r="http://schemas.openxmlformats.org/officeDocument/2006/relationships" id="257" r:id="R420610c7a0b643af"/>
    <p:sldId xmlns:r="http://schemas.openxmlformats.org/officeDocument/2006/relationships" id="258" r:id="Rbc3d8e8b28a64511"/>
    <p:sldId xmlns:r="http://schemas.openxmlformats.org/officeDocument/2006/relationships" id="259" r:id="R254d4c454dde4d48"/>
    <p:sldId xmlns:r="http://schemas.openxmlformats.org/officeDocument/2006/relationships" id="260" r:id="R4ff134a5234f4d63"/>
    <p:sldId xmlns:r="http://schemas.openxmlformats.org/officeDocument/2006/relationships" id="261" r:id="R15dc0556f95d4c72"/>
    <p:sldId xmlns:r="http://schemas.openxmlformats.org/officeDocument/2006/relationships" id="262" r:id="Re79ce96a1bb14bcf"/>
    <p:sldId xmlns:r="http://schemas.openxmlformats.org/officeDocument/2006/relationships" id="263" r:id="R14c8b4d4c2274874"/>
    <p:sldId xmlns:r="http://schemas.openxmlformats.org/officeDocument/2006/relationships" id="264" r:id="R9289f8ebd3864252"/>
    <p:sldId xmlns:r="http://schemas.openxmlformats.org/officeDocument/2006/relationships" id="265" r:id="R3f4072e997c44d12"/>
    <p:sldId xmlns:r="http://schemas.openxmlformats.org/officeDocument/2006/relationships" id="266" r:id="R389707466f81481c"/>
    <p:sldId xmlns:r="http://schemas.openxmlformats.org/officeDocument/2006/relationships" id="267" r:id="R1d450f634010460b"/>
    <p:sldId xmlns:r="http://schemas.openxmlformats.org/officeDocument/2006/relationships" id="268" r:id="Rdc2e4c5397d84502"/>
    <p:sldId xmlns:r="http://schemas.openxmlformats.org/officeDocument/2006/relationships" id="269" r:id="Rb451e88f49434b50"/>
    <p:sldId xmlns:r="http://schemas.openxmlformats.org/officeDocument/2006/relationships" id="270" r:id="R4b1eba139cd64b2d"/>
    <p:sldId xmlns:r="http://schemas.openxmlformats.org/officeDocument/2006/relationships" id="271" r:id="R113f4bbca8254271"/>
    <p:sldId xmlns:r="http://schemas.openxmlformats.org/officeDocument/2006/relationships" id="272" r:id="Rf6c1868e1b2c41d3"/>
    <p:sldId xmlns:r="http://schemas.openxmlformats.org/officeDocument/2006/relationships" id="273" r:id="R785628fe4b984446"/>
    <p:sldId xmlns:r="http://schemas.openxmlformats.org/officeDocument/2006/relationships" id="274" r:id="R9373793a767a4f28"/>
    <p:sldId xmlns:r="http://schemas.openxmlformats.org/officeDocument/2006/relationships" id="275" r:id="Rf41b9e5b95954641"/>
    <p:sldId xmlns:r="http://schemas.openxmlformats.org/officeDocument/2006/relationships" id="276" r:id="Rc81a1fe895c542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3ff5fd41ce4f95" /><Relationship Type="http://schemas.openxmlformats.org/officeDocument/2006/relationships/slideMaster" Target="/ppt/slideMasters/slideMaster1.xml" Id="Rfd4ae6677c824c70" /><Relationship Type="http://schemas.openxmlformats.org/officeDocument/2006/relationships/notesMaster" Target="/ppt/notesMasters/notesMaster1.xml" Id="R2662697d4e7c46db" /><Relationship Type="http://schemas.openxmlformats.org/officeDocument/2006/relationships/presProps" Target="/ppt/presProps.xml" Id="R0b17c25cc576416a" /><Relationship Type="http://schemas.openxmlformats.org/officeDocument/2006/relationships/tableStyles" Target="/ppt/tableStyles.xml" Id="R8806cf0729b6482a" /><Relationship Type="http://schemas.openxmlformats.org/officeDocument/2006/relationships/slide" Target="/ppt/slides/slide1.xml" Id="R794fd7fdcb214210" /><Relationship Type="http://schemas.openxmlformats.org/officeDocument/2006/relationships/slide" Target="/ppt/slides/slide2.xml" Id="R420610c7a0b643af" /><Relationship Type="http://schemas.openxmlformats.org/officeDocument/2006/relationships/slide" Target="/ppt/slides/slide3.xml" Id="Rbc3d8e8b28a64511" /><Relationship Type="http://schemas.openxmlformats.org/officeDocument/2006/relationships/slide" Target="/ppt/slides/slide4.xml" Id="R254d4c454dde4d48" /><Relationship Type="http://schemas.openxmlformats.org/officeDocument/2006/relationships/slide" Target="/ppt/slides/slide5.xml" Id="R4ff134a5234f4d63" /><Relationship Type="http://schemas.openxmlformats.org/officeDocument/2006/relationships/slide" Target="/ppt/slides/slide6.xml" Id="R15dc0556f95d4c72" /><Relationship Type="http://schemas.openxmlformats.org/officeDocument/2006/relationships/slide" Target="/ppt/slides/slide7.xml" Id="Re79ce96a1bb14bcf" /><Relationship Type="http://schemas.openxmlformats.org/officeDocument/2006/relationships/slide" Target="/ppt/slides/slide8.xml" Id="R14c8b4d4c2274874" /><Relationship Type="http://schemas.openxmlformats.org/officeDocument/2006/relationships/slide" Target="/ppt/slides/slide9.xml" Id="R9289f8ebd3864252" /><Relationship Type="http://schemas.openxmlformats.org/officeDocument/2006/relationships/slide" Target="/ppt/slides/slide10.xml" Id="R3f4072e997c44d12" /><Relationship Type="http://schemas.openxmlformats.org/officeDocument/2006/relationships/slide" Target="/ppt/slides/slide11.xml" Id="R389707466f81481c" /><Relationship Type="http://schemas.openxmlformats.org/officeDocument/2006/relationships/slide" Target="/ppt/slides/slide12.xml" Id="R1d450f634010460b" /><Relationship Type="http://schemas.openxmlformats.org/officeDocument/2006/relationships/slide" Target="/ppt/slides/slide13.xml" Id="Rdc2e4c5397d84502" /><Relationship Type="http://schemas.openxmlformats.org/officeDocument/2006/relationships/slide" Target="/ppt/slides/slide14.xml" Id="Rb451e88f49434b50" /><Relationship Type="http://schemas.openxmlformats.org/officeDocument/2006/relationships/slide" Target="/ppt/slides/slide15.xml" Id="R4b1eba139cd64b2d" /><Relationship Type="http://schemas.openxmlformats.org/officeDocument/2006/relationships/slide" Target="/ppt/slides/slide16.xml" Id="R113f4bbca8254271" /><Relationship Type="http://schemas.openxmlformats.org/officeDocument/2006/relationships/slide" Target="/ppt/slides/slide17.xml" Id="Rf6c1868e1b2c41d3" /><Relationship Type="http://schemas.openxmlformats.org/officeDocument/2006/relationships/slide" Target="/ppt/slides/slide18.xml" Id="R785628fe4b984446" /><Relationship Type="http://schemas.openxmlformats.org/officeDocument/2006/relationships/slide" Target="/ppt/slides/slide19.xml" Id="R9373793a767a4f28" /><Relationship Type="http://schemas.openxmlformats.org/officeDocument/2006/relationships/slide" Target="/ppt/slides/slide20.xml" Id="Rf41b9e5b95954641" /><Relationship Type="http://schemas.openxmlformats.org/officeDocument/2006/relationships/slide" Target="/ppt/slides/slide21.xml" Id="Rc81a1fe895c5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8b415eb50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a346da12a49bc" /><Relationship Type="http://schemas.openxmlformats.org/officeDocument/2006/relationships/notesMaster" Target="/ppt/notesMasters/notesMaster1.xml" Id="Rb54d2d7a791846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1293a32174a02" /><Relationship Type="http://schemas.openxmlformats.org/officeDocument/2006/relationships/notesMaster" Target="/ppt/notesMasters/notesMaster1.xml" Id="Ref79ced85517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8cf83b487a46a9" /><Relationship Type="http://schemas.openxmlformats.org/officeDocument/2006/relationships/notesMaster" Target="/ppt/notesMasters/notesMaster1.xml" Id="R795b5d1b540f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8711a75ee74e5f" /><Relationship Type="http://schemas.openxmlformats.org/officeDocument/2006/relationships/notesMaster" Target="/ppt/notesMasters/notesMaster1.xml" Id="R23d5aec63a034b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7bcaa75104a13" /><Relationship Type="http://schemas.openxmlformats.org/officeDocument/2006/relationships/notesMaster" Target="/ppt/notesMasters/notesMaster1.xml" Id="R77b93f1cbf0b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70cf9aeb3c40f8" /><Relationship Type="http://schemas.openxmlformats.org/officeDocument/2006/relationships/notesMaster" Target="/ppt/notesMasters/notesMaster1.xml" Id="Ra57ed0deaf4e43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c1ba0dd4dd4b27" /><Relationship Type="http://schemas.openxmlformats.org/officeDocument/2006/relationships/notesMaster" Target="/ppt/notesMasters/notesMaster1.xml" Id="Rad74cabfe919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48a434038d484c" /><Relationship Type="http://schemas.openxmlformats.org/officeDocument/2006/relationships/notesMaster" Target="/ppt/notesMasters/notesMaster1.xml" Id="Rde592d048b1247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698fd850ec4281" /><Relationship Type="http://schemas.openxmlformats.org/officeDocument/2006/relationships/notesMaster" Target="/ppt/notesMasters/notesMaster1.xml" Id="R86268accd37647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273a34179a4d6f" /><Relationship Type="http://schemas.openxmlformats.org/officeDocument/2006/relationships/notesMaster" Target="/ppt/notesMasters/notesMaster1.xml" Id="Rfa58f7945e66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86198097444bbc" /><Relationship Type="http://schemas.openxmlformats.org/officeDocument/2006/relationships/notesMaster" Target="/ppt/notesMasters/notesMaster1.xml" Id="Rd039fca62fe44f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3b93b5a1014ca4" /><Relationship Type="http://schemas.openxmlformats.org/officeDocument/2006/relationships/notesMaster" Target="/ppt/notesMasters/notesMaster1.xml" Id="R5062f746fdcd48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d53783df624612" /><Relationship Type="http://schemas.openxmlformats.org/officeDocument/2006/relationships/notesMaster" Target="/ppt/notesMasters/notesMaster1.xml" Id="Rfc51e0b1078941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ce9d782a4c472a" /><Relationship Type="http://schemas.openxmlformats.org/officeDocument/2006/relationships/notesMaster" Target="/ppt/notesMasters/notesMaster1.xml" Id="R6fe688815e854c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d077b3b27c4b30" /><Relationship Type="http://schemas.openxmlformats.org/officeDocument/2006/relationships/notesMaster" Target="/ppt/notesMasters/notesMaster1.xml" Id="Rb644a8ba3f284c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cb2dda83aa4b7d" /><Relationship Type="http://schemas.openxmlformats.org/officeDocument/2006/relationships/notesMaster" Target="/ppt/notesMasters/notesMaster1.xml" Id="R43ff6bd21a7346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f509538b154f03" /><Relationship Type="http://schemas.openxmlformats.org/officeDocument/2006/relationships/notesMaster" Target="/ppt/notesMasters/notesMaster1.xml" Id="R4e906a6d21e943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f9268d2e384f1a" /><Relationship Type="http://schemas.openxmlformats.org/officeDocument/2006/relationships/notesMaster" Target="/ppt/notesMasters/notesMaster1.xml" Id="R9801c893c0944e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d3f5b7fc48493b" /><Relationship Type="http://schemas.openxmlformats.org/officeDocument/2006/relationships/notesMaster" Target="/ppt/notesMasters/notesMaster1.xml" Id="Rd58bf92467e543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a20decb603498f" /><Relationship Type="http://schemas.openxmlformats.org/officeDocument/2006/relationships/notesMaster" Target="/ppt/notesMasters/notesMaster1.xml" Id="R17c215e6886746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06b0e09f2649a3" /><Relationship Type="http://schemas.openxmlformats.org/officeDocument/2006/relationships/notesMaster" Target="/ppt/notesMasters/notesMaster1.xml" Id="R8f7a4f15237d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Proyecto académico independiente. César alude a la mascota del CESA. Imagen institucional: https://www.cesa.edu.co/experiencia-cesa/bienestar/ . La institución no ha avalado el proyecto. El equipo aparece en una diapositiva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Adaptación de los campos de persona propuestos por HubSpot: metas, motivaciones, comportamiento, retos y criterios de decisión. https://blog.hubspot.com/marketing/buyer-persona-research . Las necesidades provienen de la encuesta de estudiantes aportada por Luis (n=10), pero Juan no es entrevistado ni representa estadísticamente al CESA. Foto de Bùi Hoàng Long bajo Unsplash License: https://unsplash.com/photos/a-young-man-sitting-in-front-of-a-laptop-computer-SO__Gs6W0ks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 de uso ilustrativa, no reconstrucción de una persona real. La cita es una respuesta textual anónima a la pregunta sobre desconfianza de la encuesta estudiantil. Foto de Zoshua Colah bajo Unsplash License: https://unsplash.com/photos/student-studies-at-a-library-with-books-klbApl9mxr0 . Es una universidad distinta del CESA y se usa solo como imagen ilustrativa.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directo del XLSX Encuesta_ Chatbot de dudas y matrícula CESA: 9 respuestas Sí y 1 No a pérdida de cupo. Dificultad 5 respuestas 5/5, 1 respuesta 4/5, 3 respuestas 3/5, 1 respuesta 1/5, promedio 3,9/5. Son autorreportes de n=10; no generalizar al total del CESA.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XLSX Encuesta_ Viabilidad de un chatbot para CESA Contigo, dos respuestas. Ambos estimaron 200 consultas/semana normal y 'Se duplica o más' en matrícula. No sumar las respuestas a 400: se refieren a una carga estimada de su área. Una persona marcó 'Poco probable' y otra 'Necesitaría evaluarlo más' para colaborar en integraciones. Foto de Vitaly Gariev bajo Unsplash License: https://unsplash.com/photos/students-talking-in-a-lecture-hall-during-class-9faEJgSvmjc . Imagen ilustrativa de estudiantes, no de CESA Contigo.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interpretativa de la encuesta de 10 estudiantes, las dos respuestas de CESA Contigo y el conflicto de ubicación del Laboratorio Financiero. No es una métrica ni un diagnóstico institucional medido. El enfoque de fuente, precisión y abstención se validó en el prototipo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Visión futura solicitada por Luis. Nido, horarios y citas no están conectados hoy. Para Nido se requerirían API/autorización e identidad; el horario requeriría oferta, cupos y reglas oficiales; las citas requieren calendarios y permisos. Foto de Zoshua Colah, Universidad de Washington, ilustrativa y no CESA: https://unsplash.com/photos/students-walk-by-a-campus-building-under-a-tree-kaZHJj-DhC4 , Unsplash License.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conceptual, no captura de una herramienta implementada. El CESA sí publica instrucciones de certificados: https://www.cesa.edu.co/registro-y-control/ . El prototipo responde a esa consulta con la fuente pública, sin entrar a Nido. Para fuentes internas futuras se requieren autorización institucional, API y control de acceso.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 cursos A, B y C ficticios. No mostrar como horario real del CESA. La malla aportada por Luis solo lista asignaturas y créditos; no proporciona NRC, grupos, cupos ni horas. La preferencia de salir antes de las 2 p. m. es un ejemplo pedido por Luis. No existe motor de optimización conectado en el prototipo.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conceptual. Ninguna agenda de Pregrado, Prácticas y Visitas o Internacionalización está conectada. El Centro DIGA sí publica 'Agenda una cita' en https://www.cesa.edu.co/experiencia-cesa/centros-de-apoyo/ ; no equivale a que el bot pueda reservar. Foto ilustrativa de Fer Troulik bajo Unsplash License: https://unsplash.com/photos/people-studying-at-tables-in-a-modern-library-ct1NZSUSWUc . No es la biblioteca del CESA.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futura, no demostración actual. SQLite es almacenamiento/búsqueda, no un modelo de lenguaje. Apify: https://docs.apify.com/platform/actors/ . Composio MCP: https://docs.composio.dev/docs/composio-connect . XGBoost learning-to-rank requiere etiquetas de relevancia y grupos de resultados por consulta; no se entrena automáticamente en el intercambio scraper/base: https://xgboost.readthedocs.io/en/stable/tutorials/learning_to_rank.html . Nido y datos privados requieren API, permisos, identidad y protección institucional. Las flechas indican orden lógico, no latencias verificadas.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 verificado en código y pruebas locales del proyecto: app.py, smart.py, docs/EVIDENCIA_Y_ALCANCE.md y EVALUACION_15_2026-09-24.md. La ruta directa a una URL pública se implementó para piloto; el contenido extraído queda sin aprobación automática. Apify/Composio y OpenAI Responses son rutas opcionales de código sin conexión del backend verificada en vivo. El agente usa OpenClaw y Telegram en la demostración manual aportada por Luis. Repositorio público: https://github.com/luisegutierrez2005/Hackaton-Chatbot . Actualización: la cuenta Telegram cesa quedó configurada con mensajes privados abiertos y el gateway conectado; no se confirmó aún una respuesta de extremo a extremo desde la cuenta externa de la captura. AGENTS.md, IDENTITY.md, SOUL.md y tres skills documentan su tono y límites. El apoyo emocional es no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Fuente oficial del procedimiento: https://www.cesa.edu.co/registro-y-control/ . Esta captura no implica integración con Nido ni ejecución del trámite.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Reglamento: https://www.cesa.edu.co/documents/731/Reglamento_general_de_estudiantes.pdf . El artículo 44 y su vigencia deben comprobarse antes de decisiones académicas individuales.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No hay API ni autorización de Nido personal. La abstención es correcta para esta pregunta. No atribuir a esta demo una prueba de seguridad integral.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página https://www.cesa.edu.co/experiencia-cesa/centros-de-apoyo/ indicaba la Biblioteca; Luis informó cuarto piso de Innovación, sin corroboración institucional. La ubicación actual sigue no verificada. Captura real del bot corregido. No publicar el dato del cuarto piso como hecho.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EVALUACION_15_2026-09-24.md. Las preguntas fueron simuladas, no conversaciones reales. 11 aprobadas, 4 devueltas, 0 no usables después de correcciones. La batería corrió por HTTP local, no en Telegram; no se probó OpenAI Responses con clave independiente. Evitar afirmar precisión generalizable o una tasa de éxito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encuesta de 10 estudiantes aportada por Luis. Pregunta de canal preferido: 6 plataforma web de la universidad, 4 WhatsApp, 0 Telegram. No inferir comportamiento de toda la población. Telegram se eligió para prototipo por facilidad de configuración, no por ser canal preferido de la muestra.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 propuesta, sin cronograma ni aprobación institucional. En las dos respuestas de CESA Contigo, una colaboración para acceso/integraciones fue 'Poco probable' y la otra requería más evaluación. XGBoost no es un requisito del MVP y solo se justificaría con etiquetas de relevancia, baseline y pruebas fuera de muestra. Las citas requieren acceso a agendas y consentimiento de las áreas. Actualización: validar con una cuenta externa si el mensaje llega, se enruta y recibe respuesta; medir tiempos y consumo de API. La configuración abierta por QR no limita el acceso solo a quienes tengan el QR.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cuatro nombres fueron proporcionados por Luis. No se asignan roles sin su confirmación. Los recuadros son editables para reemplazar los marcadores antes de presentar.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separar prototipo y visión. El prototipo contesta preguntas generales en Telegram apoyado en SQLite y páginas públicas, con abstención ante datos privados o evidencias insuficientes. Acceso a Nido, horario y citas no están implementados. La imagen del CESA es la misma portada por tratarse de la mascota/nombre del proyecto; excepción de repetición intencional.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74e08c4144a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c3ca7f2b84f90" /><Relationship Type="http://schemas.openxmlformats.org/officeDocument/2006/relationships/slideLayout" Target="/ppt/slideLayouts/slideLayout1.xml" Id="R6a5fc89bbe0c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fc89bbe0c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407d89c1e490f" /><Relationship Type="http://schemas.openxmlformats.org/officeDocument/2006/relationships/image" Target="/ppt/media/image.jpeg" Id="R0dcf411c4faa4fc6" /><Relationship Type="http://schemas.openxmlformats.org/officeDocument/2006/relationships/notesSlide" Target="/ppt/notesSlides/notesSlide1.xml" Id="R48f3e5c4a7cc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bfc6177944701" /><Relationship Type="http://schemas.openxmlformats.org/officeDocument/2006/relationships/image" Target="/ppt/media/image2.jpeg" Id="R9ad1227f70564254" /><Relationship Type="http://schemas.openxmlformats.org/officeDocument/2006/relationships/notesSlide" Target="/ppt/notesSlides/notesSlide2.xml" Id="R10b78d3293ed49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5ba5083f4528" /><Relationship Type="http://schemas.openxmlformats.org/officeDocument/2006/relationships/image" Target="/ppt/media/image3.jpeg" Id="Ra00921c9318243f3" /><Relationship Type="http://schemas.openxmlformats.org/officeDocument/2006/relationships/notesSlide" Target="/ppt/notesSlides/notesSlide3.xml" Id="Rb3e731088db94a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b3d0531c44b96" /><Relationship Type="http://schemas.openxmlformats.org/officeDocument/2006/relationships/notesSlide" Target="/ppt/notesSlides/notesSlide4.xml" Id="R06fdf09cb77c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a0454875492a" /><Relationship Type="http://schemas.openxmlformats.org/officeDocument/2006/relationships/image" Target="/ppt/media/image4.jpeg" Id="R97978470f36a4599" /><Relationship Type="http://schemas.openxmlformats.org/officeDocument/2006/relationships/notesSlide" Target="/ppt/notesSlides/notesSlide5.xml" Id="Rb96e9ebdf05349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237db62d4b59" /><Relationship Type="http://schemas.openxmlformats.org/officeDocument/2006/relationships/notesSlide" Target="/ppt/notesSlides/notesSlide6.xml" Id="R88ff49039dad40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e8406ede14400" /><Relationship Type="http://schemas.openxmlformats.org/officeDocument/2006/relationships/image" Target="/ppt/media/image5.jpeg" Id="R7aea66182b824b76" /><Relationship Type="http://schemas.openxmlformats.org/officeDocument/2006/relationships/notesSlide" Target="/ppt/notesSlides/notesSlide7.xml" Id="R252794c00e9e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5aa8d84c44f90" /><Relationship Type="http://schemas.openxmlformats.org/officeDocument/2006/relationships/notesSlide" Target="/ppt/notesSlides/notesSlide8.xml" Id="R689de3041a224e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e1d9af134e64" /><Relationship Type="http://schemas.openxmlformats.org/officeDocument/2006/relationships/notesSlide" Target="/ppt/notesSlides/notesSlide9.xml" Id="R1c4c8e36fe5045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7dae471546aa" /><Relationship Type="http://schemas.openxmlformats.org/officeDocument/2006/relationships/image" Target="/ppt/media/image6.jpeg" Id="R77f6af872bd64a2c" /><Relationship Type="http://schemas.openxmlformats.org/officeDocument/2006/relationships/notesSlide" Target="/ppt/notesSlides/notesSlide10.xml" Id="R935ef55aa8f5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68e312d64d95" /><Relationship Type="http://schemas.openxmlformats.org/officeDocument/2006/relationships/notesSlide" Target="/ppt/notesSlides/notesSlide11.xml" Id="R70d73d7e4a074a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99aa1ab1e4590" /><Relationship Type="http://schemas.openxmlformats.org/officeDocument/2006/relationships/notesSlide" Target="/ppt/notesSlides/notesSlide12.xml" Id="R3ed3c1a56b1a45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e95209a014a90" /><Relationship Type="http://schemas.openxmlformats.org/officeDocument/2006/relationships/image" Target="/ppt/media/image.png" Id="Ra94cd0430d394c40" /><Relationship Type="http://schemas.openxmlformats.org/officeDocument/2006/relationships/notesSlide" Target="/ppt/notesSlides/notesSlide13.xml" Id="Rfc7d6b79101a43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826eceea5422c" /><Relationship Type="http://schemas.openxmlformats.org/officeDocument/2006/relationships/image" Target="/ppt/media/image2.png" Id="R90de5b55957648cd" /><Relationship Type="http://schemas.openxmlformats.org/officeDocument/2006/relationships/notesSlide" Target="/ppt/notesSlides/notesSlide14.xml" Id="Rcf9bb667ec7947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157d945454358" /><Relationship Type="http://schemas.openxmlformats.org/officeDocument/2006/relationships/image" Target="/ppt/media/image3.png" Id="R84a150795db94c0a" /><Relationship Type="http://schemas.openxmlformats.org/officeDocument/2006/relationships/notesSlide" Target="/ppt/notesSlides/notesSlide15.xml" Id="R8c67424037314b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675e2b50443c" /><Relationship Type="http://schemas.openxmlformats.org/officeDocument/2006/relationships/image" Target="/ppt/media/image4.png" Id="Rcd22d7a3b6574bd3" /><Relationship Type="http://schemas.openxmlformats.org/officeDocument/2006/relationships/notesSlide" Target="/ppt/notesSlides/notesSlide16.xml" Id="R5426ac7dcfa148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0425caf8f4bdb" /><Relationship Type="http://schemas.openxmlformats.org/officeDocument/2006/relationships/notesSlide" Target="/ppt/notesSlides/notesSlide17.xml" Id="R769f8387cfd34b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55e1a091e429f" /><Relationship Type="http://schemas.openxmlformats.org/officeDocument/2006/relationships/notesSlide" Target="/ppt/notesSlides/notesSlide18.xml" Id="Refd9f78b9f4f44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953c0572842e0" /><Relationship Type="http://schemas.openxmlformats.org/officeDocument/2006/relationships/notesSlide" Target="/ppt/notesSlides/notesSlide19.xml" Id="R1e6f0bf38dda46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17cd0c2544d99" /><Relationship Type="http://schemas.openxmlformats.org/officeDocument/2006/relationships/notesSlide" Target="/ppt/notesSlides/notesSlide20.xml" Id="R80150cd54df24c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42e131e504bc4" /><Relationship Type="http://schemas.openxmlformats.org/officeDocument/2006/relationships/image" Target="/ppt/media/image7.jpeg" Id="R89c5e18086f842a5" /><Relationship Type="http://schemas.openxmlformats.org/officeDocument/2006/relationships/notesSlide" Target="/ppt/notesSlides/notesSlide21.xml" Id="R4031327e4e61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f411c4faa4fc6"/>
          <a:srcRect xmlns:a="http://schemas.openxmlformats.org/drawingml/2006/main" l="15458" t="0" r="154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600075"/>
            <a:ext cx="5829300" cy="5619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67FF-0AF1-4DEC-8DED-55CDED19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048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nuevo chatbot</a:t>
            </a:r>
          </a:p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0B0B4-B2E5-4C59-931E-D8162E6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B9D2"/>
                </a:solidFill>
                <a:latin typeface="Arial"/>
                <a:ea typeface="Arial"/>
                <a:cs typeface="Arial"/>
              </a:rPr>
              <a:t>Una forma de encontrar respuestas estudiantiles confiables</a:t>
            </a:r>
          </a:p>
        </p:txBody>
      </p:sp>
    </p:spTree>
    <p:extLst>
      <p:ext uri="{BB962C8B-B14F-4D97-AF65-F5344CB8AC3E}">
        <p14:creationId xmlns:p14="http://schemas.microsoft.com/office/powerpoint/2010/main" val="378782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8999E-F9A6-4227-970F-4D7F6BB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Juan, estudiante que necesita decidir con información clara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6007-1321-4722-BA3E-5B4019D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1227f70564254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95425"/>
            <a:ext cx="3429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610F-6AD9-4C5E-9AD9-1B49BEA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573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Buyer persona ilustrativo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06034-0560-4635-A311-582F2A76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0225"/>
            <a:ext cx="6962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4.º semestre de Administración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CA462-2C88-41CE-9617-4EE2A43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717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90EEF-F0F5-4F15-AF99-DC823EA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CF121-A060-492B-8738-EF5E21D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66975"/>
            <a:ext cx="5133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Organizar su matrícula y resolver trámites a tiempo.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882A-8B0D-4B24-8C47-5B0E82E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Motivación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04EA8-AADB-4CE0-A933-BEABAEF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38475"/>
            <a:ext cx="5133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Evitar perder opciones de clase y tener más control sobre su semana.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4EC83-8AA6-4E9F-A9DF-B948615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Comportamiento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4FD94-36CD-4792-81F7-26E58B7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57625"/>
            <a:ext cx="5133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compañeros, personal del CESA y páginas de la universidad.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EF61-EB76-4A96-9A92-0266971D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Criterio de confianza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93A69-E31F-421F-B1B7-E1DB7B3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5133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Pasos específicos, enlace verificable y una salida humana si el caso es excepcional.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71FE3-8C1F-4F98-ABC6-442551D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Persona hipotética a partir de encuesta exploratoria; foto ilustrativa, no de un alumno identificado.</a:t>
            </a:r>
          </a:p>
        </p:txBody>
      </p:sp>
    </p:spTree>
    <p:extLst>
      <p:ext uri="{BB962C8B-B14F-4D97-AF65-F5344CB8AC3E}">
        <p14:creationId xmlns:p14="http://schemas.microsoft.com/office/powerpoint/2010/main" val="461005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21c9318243f3"/>
          <a:srcRect xmlns:a="http://schemas.openxmlformats.org/drawingml/2006/main" l="21019" t="0" r="21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0"/>
            <a:ext cx="59626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2E6F9-7BA2-4146-82CE-B7C78615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38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BA75F-CA57-4D66-808E-6E0168D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decisión llega</a:t>
            </a:r>
          </a:p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que la respuesta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8CC4-40B9-42BE-9E4C-802833F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101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Juan busca el procedimiento, compara horarios y confirma requisitos en más de un canal. Durante matrícula, esa búsqueda consume el tiempo disponible para decidir.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24AAA-713E-49A2-AEC3-2599C93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74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213A-B02E-4BDB-8A31-3B6D5BE3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5038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“Que se equivoque, o que no pueda resolver mi duda”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035CA-CCD1-4DFC-A73E-AD3A86D2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4E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4E0"/>
                </a:solidFill>
                <a:latin typeface="Arial"/>
                <a:ea typeface="Arial"/>
                <a:cs typeface="Arial"/>
              </a:rPr>
              <a:t>Cita textual anónima de la encuesta de estudiantes, n=10.</a:t>
            </a:r>
          </a:p>
        </p:txBody>
      </p:sp>
    </p:spTree>
    <p:extLst>
      <p:ext uri="{BB962C8B-B14F-4D97-AF65-F5344CB8AC3E}">
        <p14:creationId xmlns:p14="http://schemas.microsoft.com/office/powerpoint/2010/main" val="1212392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336F-2BFE-410F-A267-5463C03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costo de una duda aparece al matricular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5934-A08F-4C94-9B45-93B879E2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09BAC-3BB1-47B8-9ECF-617F6E27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171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DB49-4B83-4FD8-8709-CB2606B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28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dijeron haber perdido un cupo por una decisión tardía o un error al armar el horario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AA95-B60E-45AA-9633-68CF98C6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7640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71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C1A55-EDEF-4C5E-856C-E6E3E7D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52600"/>
            <a:ext cx="4429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3,9/5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48A63-4806-4C7B-9471-2F7D2A9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71775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dificultad promedio para armar el horario ideal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47277-0043-4BA1-B3F6-F761C27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El dato es una señal para investigar, no una tasa institucional.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87EDC-4B8A-47AD-AFD8-A1C64CB1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4E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4E0"/>
                </a:solidFill>
                <a:latin typeface="Arial"/>
                <a:ea typeface="Arial"/>
                <a:cs typeface="Arial"/>
              </a:rPr>
              <a:t>Encuesta exploratoria de 10 estudiantes aportada por el equipo; muestra no representativa.</a:t>
            </a:r>
          </a:p>
        </p:txBody>
      </p:sp>
    </p:spTree>
    <p:extLst>
      <p:ext uri="{BB962C8B-B14F-4D97-AF65-F5344CB8AC3E}">
        <p14:creationId xmlns:p14="http://schemas.microsoft.com/office/powerpoint/2010/main" val="1551704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59C8C-7A21-4136-99B1-D139A91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CESA Contigo recibe las mismas dudas en volumen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B7CAA-34FE-4E98-A375-3D7BAEF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78470f36a4599"/>
          <a:srcRect xmlns:a="http://schemas.openxmlformats.org/drawingml/2006/main" l="20386" t="0" r="20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48475" y="1466850"/>
            <a:ext cx="478155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1AFFB-6F1C-42F0-BF6A-CCFB976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Dos informantes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F94A-A622-41F0-88CB-3C91273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52650"/>
            <a:ext cx="5724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Líder de experiencia estudiantil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A7C38-689A-4A03-B1EA-084ECF3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52700"/>
            <a:ext cx="5743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Cupos, cruces y requisitos.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B994-1F3D-4BF7-B357-1F10A0E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48025"/>
            <a:ext cx="584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Analista de Experiencia y Permanencia Estudiantil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F824-DB4B-4D56-BEAF-B8EFA51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86200"/>
            <a:ext cx="5848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Pagos, certificados e incapacidades.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0E3FB-A9D7-483F-9665-4B6F8FA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76775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286C3-2050-44B9-A853-C7E3F745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58007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Ambos estimaron unas 200 consultas por semana normal y al menos el doble en matrícula.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85CE-30C1-47BC-A022-A9FD2D3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Dos respuestas de CESA Contigo; estimaciones, no registros administrativos.</a:t>
            </a:r>
          </a:p>
        </p:txBody>
      </p:sp>
    </p:spTree>
    <p:extLst>
      <p:ext uri="{BB962C8B-B14F-4D97-AF65-F5344CB8AC3E}">
        <p14:creationId xmlns:p14="http://schemas.microsoft.com/office/powerpoint/2010/main" val="1765910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260A3-3D13-49F4-8491-8CC73FB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El problema que atacamos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3F9B-0C8B-4BA1-809C-FFD503E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054417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Una respuesta dispersa puede llegar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después de que el estudiante decidió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F8798-1F1B-4613-BB70-4C2DC01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9182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asistente debe encontrar la instrucción precisa, mostrar su fuente y reconocer cuándo la información no alcanza.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E5D53-64EB-428D-B4B1-67716BC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80AEC-2C9B-43C2-A6D6-C6598983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753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No automatizar una decisión equivocada</a:t>
            </a:r>
          </a:p>
        </p:txBody>
      </p:sp>
    </p:spTree>
    <p:extLst>
      <p:ext uri="{BB962C8B-B14F-4D97-AF65-F5344CB8AC3E}">
        <p14:creationId xmlns:p14="http://schemas.microsoft.com/office/powerpoint/2010/main" val="1002223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a66182b824b76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B2790-2DEE-4FB5-BA40-C6262AE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0"/>
            <a:ext cx="7267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2B49C-6AF8-443E-B909-598AB73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61975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César: la 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3529E-DA9B-4C29-9557-DBADF09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695450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B1EA-166B-4423-8124-97E8FFBF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14500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Buscar en Nido y fuentes autorizadas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3E46A-B9EF-4710-BA24-CE6BC4F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33675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8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CFFD5-0F7A-46E9-883F-967A4D4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38475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D2C3-60F6-45DA-82C3-E391F01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57525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Preparar horarios con preferencias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20C8F-18E8-4DF3-BFE1-C5AC9F3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8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D03B6-CC06-4D50-B96F-22770579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81500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ECEDF-1036-4410-BB52-A7B4660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00550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Agendar citas con el área correcta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D4C4F-7478-4E59-8A0D-FD0D98F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57875"/>
            <a:ext cx="597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propuesta no modifica la interfaz ni el sistema de Nido.</a:t>
            </a:r>
          </a:p>
        </p:txBody>
      </p:sp>
    </p:spTree>
    <p:extLst>
      <p:ext uri="{BB962C8B-B14F-4D97-AF65-F5344CB8AC3E}">
        <p14:creationId xmlns:p14="http://schemas.microsoft.com/office/powerpoint/2010/main" val="73304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880E-E5C9-4090-BD09-0AA87ED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Búsqueda en Nido y otras fuentes autorizadas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47568-5CE5-4A12-93B7-38C877B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0EE33-FD99-4971-9F30-DE20853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CONCEPTO, NO CONEXIÓN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7680B-BEA3-4CA9-92C5-695C1AE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B0618-7868-4DED-BE28-1AE1B2C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3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D1026-A0CC-4C12-9EF4-7FAB9FFE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0882A-E178-4705-A433-F361E33E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Buscador estudiantil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6E22F-7A5F-4B67-95EC-36F4E5B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647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¿Cómo solicito un certificado?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DA72E-BAD2-4CD6-9298-799F2F60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71C5-6DFB-472C-A2E0-4245E97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0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FBDD2-EEE1-434E-8412-497AA44B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9458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Pasos, requisito aplicable y enlace institucional para comprobarlo.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5DD5C-79B3-4A39-97DF-310845D2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625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Fuente: Registro y Control CESA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C3AE6-4C3B-4B06-B5EF-812F2E7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33950"/>
            <a:ext cx="3800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Nido solo con acceso concedido por la universidad</a:t>
            </a:r>
          </a:p>
        </p:txBody>
      </p:sp>
    </p:spTree>
    <p:extLst>
      <p:ext uri="{BB962C8B-B14F-4D97-AF65-F5344CB8AC3E}">
        <p14:creationId xmlns:p14="http://schemas.microsoft.com/office/powerpoint/2010/main" val="1052867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49270-F3D1-4C55-A503-5F59CE8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Horario compatible con preferencias y restricciones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5B67E-F263-4509-AABD-82A12D9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4E3B2-A686-4094-AC1A-6C10BCA1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EJEMPLO FICTICIO, SIN OFERTA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3BAA1-9711-4518-83CB-0E82FEC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90700"/>
            <a:ext cx="4581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“Quiero salir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máximo a las 2 p. 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4DD9D-0A3B-4B31-BCD6-CE921ABF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14625"/>
            <a:ext cx="4391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motor comprobaría cruces, grupos disponibles y condiciones académicas antes de sugerir opciones.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E009-ADF0-4E5E-B19B-2C496C5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62125"/>
            <a:ext cx="6191250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D1F98-94C8-468B-8D5C-4EE9BB8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Lun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3FD4F-A7DA-447E-939D-C402CD8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87773-20A7-4E36-9DAC-219ABA36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D96DE-326C-49E1-91BE-A544FC1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F6D4B-2209-405D-858C-9B2F974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78B66-5262-4E95-8E70-532CC3F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05341-16C7-43B7-B36B-0417972F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Jue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4BFDE-3C2E-4BEB-9171-9D9243F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E0849-3C89-4F38-A828-1B426C1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Vie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D2D50-6E84-4CB2-926C-844420C4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1179-42FC-4556-96ED-19C637D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D639C-0446-4FCC-8263-B014ADE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57450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8:00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D1FAB-7F59-47AD-B04C-3CF6AE6C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241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8FDC5-CEC3-498A-BBA7-496F395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52775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8F8E2-51AC-4ACC-B152-F7E7777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1947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D1A1A-FE32-4357-AFA6-2D86AD2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48100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F2827-DD77-4A18-86E9-6DB951B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148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F7400-4501-45C5-9668-77D0066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543425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FC949-84CA-4662-BF56-17465C64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1012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0B9B7-8E14-4BBD-8D8F-E271981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62225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754A8-0D0D-4541-B5E9-EF161E2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F634C-EC48-4668-B0F3-41206BB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5755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03ADC-D8C2-4DD6-BDFB-9C926A0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6232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C0D1C-9CC4-41EA-8850-0D7E845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62225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DF25C6-33E7-4AC6-B021-43532B5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9B3C0-F263-4F1A-83B7-6D79E7C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EE9F4E-64E7-4ED9-9395-192775F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6232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EEF0A-2E60-49EA-B62D-DFB9476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6240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6B97D-383C-4749-991F-EB51CAA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6717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B42E6D-2C7F-48B7-9A4A-4FC9AA5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29200"/>
            <a:ext cx="4457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No arma horarios hoy ni conoce cupos o NRC actuales.</a:t>
            </a:r>
          </a:p>
        </p:txBody>
      </p:sp>
    </p:spTree>
    <p:extLst>
      <p:ext uri="{BB962C8B-B14F-4D97-AF65-F5344CB8AC3E}">
        <p14:creationId xmlns:p14="http://schemas.microsoft.com/office/powerpoint/2010/main" val="967905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EA6B3-E2E9-48DB-AD02-48D816D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Agendar con el equipo correcto sin mensajes dispersos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F72A7-A8FD-4E2A-BE26-FAED63C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45133-EC60-45EB-B0AC-01DFD6C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CONCEPTO, NO RESERVA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598B2-26E3-42E2-8F44-D875D0C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5648325" cy="3895725"/>
          </a:xfrm>
          <a:prstGeom xmlns:a="http://schemas.openxmlformats.org/drawingml/2006/main" prst="roundRect">
            <a:avLst>
              <a:gd name="adj" fmla="val 1956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79998-7A93-4461-BCD9-B46BC8D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019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¿Con quién necesito hablar?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1E92-ACA7-4E1E-ACF2-D8B63F4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57500"/>
            <a:ext cx="4486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Pregrado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1959-7459-4511-90E9-C758439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04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A6958-03E1-44D0-86BB-EC6560D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19500"/>
            <a:ext cx="4591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Prácticas y Visitas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5873A-D315-48D4-A40E-7ED25E5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690C1-07FD-4545-9540-220F7AF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91025"/>
            <a:ext cx="463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Internacionalización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6af872bd64a2c"/>
          <a:srcRect xmlns:a="http://schemas.openxmlformats.org/drawingml/2006/main" l="3558" t="0" r="35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81175"/>
            <a:ext cx="4848225" cy="39147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18A48-8086-46A1-893A-2ABB55F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293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Una cita concreta; casos excepcionales siguen con una persona.</a:t>
            </a:r>
          </a:p>
        </p:txBody>
      </p:sp>
    </p:spTree>
    <p:extLst>
      <p:ext uri="{BB962C8B-B14F-4D97-AF65-F5344CB8AC3E}">
        <p14:creationId xmlns:p14="http://schemas.microsoft.com/office/powerpoint/2010/main" val="1406157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DB94A-B97B-4488-AED1-E8B9E72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Cómo respondería César en la versión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CB1AC-B37E-4517-BEA5-26C5081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EC9C-7784-4AE0-A117-D8314E3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200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3C894-CED9-45E4-AA89-318B03A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876E-5162-4051-8C94-2671863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95550"/>
            <a:ext cx="638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DC7B4-7F7E-4209-8D51-987C16E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453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9BA20-8A00-4B46-BF95-4B809E7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38475"/>
            <a:ext cx="3552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Fuente suficiente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976B4-1656-4EEA-BE06-BEF40EF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71800"/>
            <a:ext cx="641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Cita el documento y responde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7279-9A14-41C1-8B90-B64C5187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49F0E-E778-4F54-89FE-1508121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14775"/>
            <a:ext cx="638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BA230-5901-43F6-84B5-BC3ED21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4276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3C"/>
                </a:solidFill>
                <a:latin typeface="Arial"/>
                <a:ea typeface="Arial"/>
                <a:cs typeface="Arial"/>
              </a:rPr>
              <a:t>Si falta evidencia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C66B-BF83-4403-BA42-5A65966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48175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Web pública vía Apify o Nido mediante API autorizada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1BE0F-976B-437E-890C-7DE1790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33950"/>
            <a:ext cx="985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Verificación de procedencia y vigencia → guardar en SQLite → responder o abstenerse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BBFF2-5525-462E-B5DA-E901D6C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391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Composio podría exponer las herramientas. XGBoost sería opcional para ordenar resultados, tras entrenar y validar con datos etiquetados.</a:t>
            </a:r>
          </a:p>
        </p:txBody>
      </p:sp>
    </p:spTree>
    <p:extLst>
      <p:ext uri="{BB962C8B-B14F-4D97-AF65-F5344CB8AC3E}">
        <p14:creationId xmlns:p14="http://schemas.microsoft.com/office/powerpoint/2010/main" val="119265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C37B6-776F-4FF3-853B-E935388D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Qué funciona hoy en 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5F02-8606-4F75-8294-7665727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DDFD1-CF8E-46B9-B6FC-FB1C4241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0299-E117-4F87-9335-13C42FD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DM abierto; prueba externa pendiente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1CDEC-3913-4659-B01F-1BE0575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842EA-2A32-4F25-99CB-1276A18E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OpenClaw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FA154-4568-46CD-BFBE-F1070F6A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identidad, 3 skills y cesa_lookup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E2804-29A5-4DC1-A1B5-1A8AC16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18421-410C-4DBB-B40E-4F33B6A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38091-A764-40F7-8D62-CBA2E0E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/api/chat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56C3-FA77-470B-8DE6-EA4FF88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618BB-5372-4AE1-9D66-4968921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22FFE-F368-419B-9CC2-1DC5589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recupera ficha y enlace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04756-67E5-4224-B116-B644FD0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D53CF-5117-43A9-9C60-7D5CDB2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52875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Si hay evidencia suficiente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7EB7E-9B87-4884-9D28-590DC60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19600"/>
            <a:ext cx="497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Responde con enlace. Si hay conflicto, lo explica.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7F97A-0F2D-49B4-ADEE-65E2D64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498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Si falta cobertura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EB3F6-B0A8-42D6-8180-DD8FF13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Una consulta pública acotada puede guardarse, pero el texto nuevo no se vuelve una respuesta verificada por sí solo.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20FDF-E271-4C0F-8CC9-18335F9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87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El repositorio contiene código, identidad y skills; César ofrece apoyo no clínico.</a:t>
            </a:r>
          </a:p>
        </p:txBody>
      </p:sp>
    </p:spTree>
    <p:extLst>
      <p:ext uri="{BB962C8B-B14F-4D97-AF65-F5344CB8AC3E}">
        <p14:creationId xmlns:p14="http://schemas.microsoft.com/office/powerpoint/2010/main" val="42859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F5F8-5BA0-4B7B-B103-2BF1232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 certificado con pasos y enlace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A2B9-CC90-41BE-A906-F020BB7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cd0430d394c40"/>
          <a:stretch xmlns:a="http://schemas.openxmlformats.org/drawingml/2006/main"/>
        </p:blipFill>
        <p:spPr>
          <a:xfrm xmlns:a="http://schemas.openxmlformats.org/drawingml/2006/main">
            <a:off x="1398425" y="1504950"/>
            <a:ext cx="3699199" cy="4791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C05F-3686-4284-B489-886A5FF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57375"/>
            <a:ext cx="5105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¿Cómo solicito un certificado?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6C696-F967-4F14-BC66-90DA9FD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19450"/>
            <a:ext cx="4800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César indica la ruta en Nido y enlaza Registro y Control para comprobar el trámite.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6433F-7129-443B-BD35-1E57A272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14925"/>
            <a:ext cx="4810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Telegram muestra el prototipo; no hay acceso personal a Nido.</a:t>
            </a:r>
          </a:p>
        </p:txBody>
      </p:sp>
    </p:spTree>
    <p:extLst>
      <p:ext uri="{BB962C8B-B14F-4D97-AF65-F5344CB8AC3E}">
        <p14:creationId xmlns:p14="http://schemas.microsoft.com/office/powerpoint/2010/main" val="766952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7AA6C-5FF5-4063-BBF9-FAB012EF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una regla respaldada por el reglamento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A0616-1F6B-4938-9EB8-81629B36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e5b55957648cd"/>
          <a:stretch xmlns:a="http://schemas.openxmlformats.org/drawingml/2006/main"/>
        </p:blipFill>
        <p:spPr>
          <a:xfrm xmlns:a="http://schemas.openxmlformats.org/drawingml/2006/main">
            <a:off x="1397319" y="1495425"/>
            <a:ext cx="3710936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EE3EA-13DB-4C7A-B199-2B11C7DB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Más de 30 % de inasistencias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48D06-4B25-4366-8E99-60DC0CE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48291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La respuesta distingue el límite exacto de superarlo y adjunta el documento institucional.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65734-B275-46DA-8C55-15459D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Art. 44 del Reglamento General de Estudiantes</a:t>
            </a:r>
          </a:p>
        </p:txBody>
      </p:sp>
    </p:spTree>
    <p:extLst>
      <p:ext uri="{BB962C8B-B14F-4D97-AF65-F5344CB8AC3E}">
        <p14:creationId xmlns:p14="http://schemas.microsoft.com/office/powerpoint/2010/main" val="854074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1C679-E873-45F8-A4BE-C26B732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se abstiene ante información privada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937EC-4FAB-4E9B-AEAB-037F7F2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150795db94c0a"/>
          <a:stretch xmlns:a="http://schemas.openxmlformats.org/drawingml/2006/main"/>
        </p:blipFill>
        <p:spPr>
          <a:xfrm xmlns:a="http://schemas.openxmlformats.org/drawingml/2006/main">
            <a:off x="1374277" y="1495425"/>
            <a:ext cx="3757021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6462D-CED7-4E67-B238-E7009EC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57375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¿Cuáles son mis notas?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05189-CDE3-42BB-93A9-3027988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52775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prototipo no tiene credenciales ni permiso para consultar calificaciones personales.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D1-A6C8-459C-927A-6BBF586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La salida correcta es remitir al acceso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9405826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1F01-52AE-4F2B-B0DD-56ADB9B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una fuente oficial también puede fallar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72D82-3223-409B-8CA0-3FBFEAE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2d7a3b6574bd3"/>
          <a:stretch xmlns:a="http://schemas.openxmlformats.org/drawingml/2006/main"/>
        </p:blipFill>
        <p:spPr>
          <a:xfrm xmlns:a="http://schemas.openxmlformats.org/drawingml/2006/main">
            <a:off x="1413897" y="1495425"/>
            <a:ext cx="3677780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3DFE9-4DB3-4D06-85E9-9D53F1C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38325"/>
            <a:ext cx="5076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Laboratorio Financiero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11727-0B88-4558-9680-15CE203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48291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La web y un reporte de Luis discrepan sobre la ubicación. César no afirma cuál es la actual y pide confirmación.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5CDF-56A2-4345-97F4-4EAAC02C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970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Citar una página no confirma su vigencia.</a:t>
            </a:r>
          </a:p>
        </p:txBody>
      </p:sp>
    </p:spTree>
    <p:extLst>
      <p:ext uri="{BB962C8B-B14F-4D97-AF65-F5344CB8AC3E}">
        <p14:creationId xmlns:p14="http://schemas.microsoft.com/office/powerpoint/2010/main" val="2106885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09F42-1E42-43D2-99B7-604102CA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Probamos respuestas y abstenciones antes de mostrarlo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E5FE-8981-407E-981D-6EC70FD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A72B4-E74C-40FC-B081-FD58817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85925"/>
            <a:ext cx="2657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FCE1-2934-4243-9F6A-A6910C7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95575"/>
            <a:ext cx="3000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simuladas ejecutadas contra el servicio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BE903-CDDD-41F2-BEB4-71AAEFCE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85925"/>
            <a:ext cx="266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46244-52C0-4C4F-BEA8-075EA81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95575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respuestas o abstenciones 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64BC0-6A98-46FC-AC02-86A84D1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85925"/>
            <a:ext cx="266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EEB8-37DA-4FB6-8BE5-D3F7A133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95575"/>
            <a:ext cx="3067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pendientes por respaldo público o vigencia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C2167-CC75-4D0B-B52C-015E215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62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6132A-938E-420C-AC7F-2BA7806C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339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Casos: certificados, reglamento, malla, servicios y datos privados.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CAD83-5481-4C93-B790-D6129047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3400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Es una prueba interna pequeña, no una tasa de exactitud para estudiantes reales.</a:t>
            </a:r>
          </a:p>
        </p:txBody>
      </p:sp>
    </p:spTree>
    <p:extLst>
      <p:ext uri="{BB962C8B-B14F-4D97-AF65-F5344CB8AC3E}">
        <p14:creationId xmlns:p14="http://schemas.microsoft.com/office/powerpoint/2010/main" val="43166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417F8-0594-42B0-8C37-DA450FE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 demuestra el MVP; la web lidera la preferencia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77758-BE9B-4E25-8371-C0A07D82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B9A30-63F8-4AEB-B8F3-5A0086B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333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9AEEB-61F3-4533-8CA4-F6BBF6D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400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prefieren usarlo en la plataforma web universitaria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C9CCF-6892-4FF2-93CC-92771DE6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526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04172-AD57-49C5-A692-4AC5B84E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46074-92E5-403D-9486-70722CC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95600"/>
            <a:ext cx="4000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prefieren WhatsApp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339A4-2D80-4EDC-8410-38CAF90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013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 fue la vía más rápida para construir y enseñar el prototipo; no apareció como preferencia en estas respuestas.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5B3D9-AD3C-485B-B814-9974D65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Encuesta exploratoria de estudiantes, n=10; el canal final debe volver a validarse.</a:t>
            </a:r>
          </a:p>
        </p:txBody>
      </p:sp>
    </p:spTree>
    <p:extLst>
      <p:ext uri="{BB962C8B-B14F-4D97-AF65-F5344CB8AC3E}">
        <p14:creationId xmlns:p14="http://schemas.microsoft.com/office/powerpoint/2010/main" val="490957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5137A-CAB2-49F5-8DF1-1FC0B07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Lo siguiente depende de contenido y permisos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A1E4D-595B-46AE-BD48-9BF2915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BB71-7D82-4FFE-936B-9D3514D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972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51173-C034-4E2B-8EE9-D9FA450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609725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Curar fuentes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E16CA-164D-44E7-9920-FACB0838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09725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Responsable, fecha de revisión y enlace oficial.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8474-549E-434A-AAAC-736D5DDA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B058D-A6F2-4415-9940-FB8F7A1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6700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B5B9-47B4-4B1A-99B2-9BED048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Validar con estudiantes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8D773-2E65-4F62-8707-1AD1AC2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67000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Probar entrega por Telegram, respuestas, tiempos y costos.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AED33-5BF5-48A2-B623-C6983E35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7F7BA-743A-4FF7-B6EF-58E947E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2427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DBA92-997D-4155-AFE6-4BA9897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24275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Acordar acceso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5F227-96E3-47CA-930A-E853395A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24275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API de Nido, identidad y calendarios con el CESA.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4CB04-C017-451F-8C44-4322CE2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CDE9B-2F87-4873-9466-38DE5157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1CE19-2959-4B76-BF58-1A733B4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815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Ampliar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3A54B-B2FE-4D51-A84C-A8A7137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81550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Horario, citas y ranking si aportan mejora medida.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8C62F-D327-4314-8631-8045308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2455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No hay autorización institucional para consultar datos personales o ejecutar trámites.</a:t>
            </a:r>
          </a:p>
        </p:txBody>
      </p:sp>
    </p:spTree>
    <p:extLst>
      <p:ext uri="{BB962C8B-B14F-4D97-AF65-F5344CB8AC3E}">
        <p14:creationId xmlns:p14="http://schemas.microsoft.com/office/powerpoint/2010/main" val="3208366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F0CCF-26B0-4F13-90D6-422B473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El equipo detrás de César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28192-C186-4052-B99A-1B475C72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2A75-BD00-4669-B1E9-37EA92A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Cuatro integrantes; responsabilidades por confirmar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58E3-9CDF-49B1-AFFF-41927D73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5740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85ADC-D3CB-4A10-B757-29B1578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 Zapata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D62CC-C9C3-437B-B272-08263CF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Rol: por confirmar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E4BF-9095-429D-8F20-14BF418C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5740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5B59-FF4D-47C1-B8DE-82693EF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Benjamín Herrera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E1FC0-C0D4-4613-AE7B-7E66E52B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Rol: por confirmar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A43BE-4580-462D-B4A6-AFB7F5A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2905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35BFB-D440-47DA-B5D1-FACBC13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 Pablo Salazar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54946-42A4-43FF-BE8A-E04FF1A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Rol: por 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4989D-4D68-40AF-BF45-0DF3019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2905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CC5C1-DB7B-440A-8ABC-81F211F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Luis Gutiérrez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36E56-F556-412C-8B35-D3B76670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Rol: por confirmar</a:t>
            </a:r>
          </a:p>
        </p:txBody>
      </p:sp>
    </p:spTree>
    <p:extLst>
      <p:ext uri="{BB962C8B-B14F-4D97-AF65-F5344CB8AC3E}">
        <p14:creationId xmlns:p14="http://schemas.microsoft.com/office/powerpoint/2010/main" val="16524548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5e18086f842a5"/>
          <a:srcRect xmlns:a="http://schemas.openxmlformats.org/drawingml/2006/main" l="21371" t="0" r="213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025" y="0"/>
            <a:ext cx="58959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E34BD-7850-4567-BAA7-0EB785C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76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BA3AA-DAEA-40E0-839B-85C9FE0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5362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 ya demuestra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respuesta mejor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B35A3-4A03-4027-9A2C-44B65A7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43250"/>
            <a:ext cx="50387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Hoy: información general con fuente y límites explícitos.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0D6DD-B954-48DD-AED5-F4EC907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86275"/>
            <a:ext cx="5076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Después: Nido autorizado, horarios y citas.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5A27-8F06-45DF-BF2E-9DE73CC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86400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confianza en la respuesta es la condición para escalar.</a:t>
            </a:r>
          </a:p>
        </p:txBody>
      </p:sp>
    </p:spTree>
    <p:extLst>
      <p:ext uri="{BB962C8B-B14F-4D97-AF65-F5344CB8AC3E}">
        <p14:creationId xmlns:p14="http://schemas.microsoft.com/office/powerpoint/2010/main" val="164936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2026-09-25T04:29:04.2710000Z</dcterms:created>
  <dcterms:modified xsi:type="dcterms:W3CDTF">2026-09-25T04:29:04.2710000Z</dcterms:modified>
</coreProperties>
</file>