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a5897ce83c4d03" /><Relationship Type="http://schemas.openxmlformats.org/officeDocument/2006/relationships/extended-properties" Target="/docProps/app.xml" Id="Reb420aeba55b4faa" /><Relationship Type="http://schemas.openxmlformats.org/officeDocument/2006/relationships/officeDocument" Target="/ppt/presentation.xml" Id="Reb8d043ba11f48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13c23630ab4b35"/>
  </p:sldMasterIdLst>
  <p:notesMasterIdLst>
    <p:notesMasterId xmlns:r="http://schemas.openxmlformats.org/officeDocument/2006/relationships" r:id="R313beb89c14d4ac3"/>
  </p:notesMasterIdLst>
  <p:sldIdLst>
    <p:sldId xmlns:r="http://schemas.openxmlformats.org/officeDocument/2006/relationships" id="256" r:id="R6feb01f6fd0043d6"/>
    <p:sldId xmlns:r="http://schemas.openxmlformats.org/officeDocument/2006/relationships" id="257" r:id="R4b7d186794124afc"/>
    <p:sldId xmlns:r="http://schemas.openxmlformats.org/officeDocument/2006/relationships" id="258" r:id="R7040274146ad4a11"/>
    <p:sldId xmlns:r="http://schemas.openxmlformats.org/officeDocument/2006/relationships" id="259" r:id="R69b8fe1a08b1423b"/>
    <p:sldId xmlns:r="http://schemas.openxmlformats.org/officeDocument/2006/relationships" id="260" r:id="Rf78b8e5678ac4ac0"/>
    <p:sldId xmlns:r="http://schemas.openxmlformats.org/officeDocument/2006/relationships" id="261" r:id="R93b189bb29684d9b"/>
    <p:sldId xmlns:r="http://schemas.openxmlformats.org/officeDocument/2006/relationships" id="262" r:id="R4402dd23ec154e12"/>
    <p:sldId xmlns:r="http://schemas.openxmlformats.org/officeDocument/2006/relationships" id="263" r:id="Rfe8b22aa52c6491b"/>
    <p:sldId xmlns:r="http://schemas.openxmlformats.org/officeDocument/2006/relationships" id="264" r:id="Rfe072269f6a444cb"/>
    <p:sldId xmlns:r="http://schemas.openxmlformats.org/officeDocument/2006/relationships" id="265" r:id="R1f041489a3764baa"/>
    <p:sldId xmlns:r="http://schemas.openxmlformats.org/officeDocument/2006/relationships" id="266" r:id="R5ba457b350ad459e"/>
    <p:sldId xmlns:r="http://schemas.openxmlformats.org/officeDocument/2006/relationships" id="267" r:id="Rac55a5af0e0b46c6"/>
    <p:sldId xmlns:r="http://schemas.openxmlformats.org/officeDocument/2006/relationships" id="268" r:id="Re56a2777edbb47da"/>
    <p:sldId xmlns:r="http://schemas.openxmlformats.org/officeDocument/2006/relationships" id="269" r:id="Rb125ccae71604dca"/>
    <p:sldId xmlns:r="http://schemas.openxmlformats.org/officeDocument/2006/relationships" id="270" r:id="R71bf125826244e7c"/>
    <p:sldId xmlns:r="http://schemas.openxmlformats.org/officeDocument/2006/relationships" id="271" r:id="R25beff262c92415d"/>
    <p:sldId xmlns:r="http://schemas.openxmlformats.org/officeDocument/2006/relationships" id="272" r:id="Rcb7d85c817d2427d"/>
    <p:sldId xmlns:r="http://schemas.openxmlformats.org/officeDocument/2006/relationships" id="273" r:id="Rdbc27a46410f45ee"/>
    <p:sldId xmlns:r="http://schemas.openxmlformats.org/officeDocument/2006/relationships" id="274" r:id="R19e4132058de4046"/>
    <p:sldId xmlns:r="http://schemas.openxmlformats.org/officeDocument/2006/relationships" id="275" r:id="Reb2fbf5e608d46a6"/>
    <p:sldId xmlns:r="http://schemas.openxmlformats.org/officeDocument/2006/relationships" id="276" r:id="R91137865f98441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4a72527d0d49b4" /><Relationship Type="http://schemas.openxmlformats.org/officeDocument/2006/relationships/slideMaster" Target="/ppt/slideMasters/slideMaster1.xml" Id="R6a13c23630ab4b35" /><Relationship Type="http://schemas.openxmlformats.org/officeDocument/2006/relationships/notesMaster" Target="/ppt/notesMasters/notesMaster1.xml" Id="R313beb89c14d4ac3" /><Relationship Type="http://schemas.openxmlformats.org/officeDocument/2006/relationships/presProps" Target="/ppt/presProps.xml" Id="R61b1d20213ab4704" /><Relationship Type="http://schemas.openxmlformats.org/officeDocument/2006/relationships/tableStyles" Target="/ppt/tableStyles.xml" Id="Ra9d7f293fc9745ce" /><Relationship Type="http://schemas.openxmlformats.org/officeDocument/2006/relationships/slide" Target="/ppt/slides/slide1.xml" Id="R6feb01f6fd0043d6" /><Relationship Type="http://schemas.openxmlformats.org/officeDocument/2006/relationships/slide" Target="/ppt/slides/slide2.xml" Id="R4b7d186794124afc" /><Relationship Type="http://schemas.openxmlformats.org/officeDocument/2006/relationships/slide" Target="/ppt/slides/slide3.xml" Id="R7040274146ad4a11" /><Relationship Type="http://schemas.openxmlformats.org/officeDocument/2006/relationships/slide" Target="/ppt/slides/slide4.xml" Id="R69b8fe1a08b1423b" /><Relationship Type="http://schemas.openxmlformats.org/officeDocument/2006/relationships/slide" Target="/ppt/slides/slide5.xml" Id="Rf78b8e5678ac4ac0" /><Relationship Type="http://schemas.openxmlformats.org/officeDocument/2006/relationships/slide" Target="/ppt/slides/slide6.xml" Id="R93b189bb29684d9b" /><Relationship Type="http://schemas.openxmlformats.org/officeDocument/2006/relationships/slide" Target="/ppt/slides/slide7.xml" Id="R4402dd23ec154e12" /><Relationship Type="http://schemas.openxmlformats.org/officeDocument/2006/relationships/slide" Target="/ppt/slides/slide8.xml" Id="Rfe8b22aa52c6491b" /><Relationship Type="http://schemas.openxmlformats.org/officeDocument/2006/relationships/slide" Target="/ppt/slides/slide9.xml" Id="Rfe072269f6a444cb" /><Relationship Type="http://schemas.openxmlformats.org/officeDocument/2006/relationships/slide" Target="/ppt/slides/slide10.xml" Id="R1f041489a3764baa" /><Relationship Type="http://schemas.openxmlformats.org/officeDocument/2006/relationships/slide" Target="/ppt/slides/slide11.xml" Id="R5ba457b350ad459e" /><Relationship Type="http://schemas.openxmlformats.org/officeDocument/2006/relationships/slide" Target="/ppt/slides/slide12.xml" Id="Rac55a5af0e0b46c6" /><Relationship Type="http://schemas.openxmlformats.org/officeDocument/2006/relationships/slide" Target="/ppt/slides/slide13.xml" Id="Re56a2777edbb47da" /><Relationship Type="http://schemas.openxmlformats.org/officeDocument/2006/relationships/slide" Target="/ppt/slides/slide14.xml" Id="Rb125ccae71604dca" /><Relationship Type="http://schemas.openxmlformats.org/officeDocument/2006/relationships/slide" Target="/ppt/slides/slide15.xml" Id="R71bf125826244e7c" /><Relationship Type="http://schemas.openxmlformats.org/officeDocument/2006/relationships/slide" Target="/ppt/slides/slide16.xml" Id="R25beff262c92415d" /><Relationship Type="http://schemas.openxmlformats.org/officeDocument/2006/relationships/slide" Target="/ppt/slides/slide17.xml" Id="Rcb7d85c817d2427d" /><Relationship Type="http://schemas.openxmlformats.org/officeDocument/2006/relationships/slide" Target="/ppt/slides/slide18.xml" Id="Rdbc27a46410f45ee" /><Relationship Type="http://schemas.openxmlformats.org/officeDocument/2006/relationships/slide" Target="/ppt/slides/slide19.xml" Id="R19e4132058de4046" /><Relationship Type="http://schemas.openxmlformats.org/officeDocument/2006/relationships/slide" Target="/ppt/slides/slide20.xml" Id="Reb2fbf5e608d46a6" /><Relationship Type="http://schemas.openxmlformats.org/officeDocument/2006/relationships/slide" Target="/ppt/slides/slide21.xml" Id="R91137865f98441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b83b2af65546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585ad2e4f4447a" /><Relationship Type="http://schemas.openxmlformats.org/officeDocument/2006/relationships/notesMaster" Target="/ppt/notesMasters/notesMaster1.xml" Id="R67d81c9c99794d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c1f05ad93e4c74" /><Relationship Type="http://schemas.openxmlformats.org/officeDocument/2006/relationships/notesMaster" Target="/ppt/notesMasters/notesMaster1.xml" Id="R0c8b66fa0ce343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5624dca23664178" /><Relationship Type="http://schemas.openxmlformats.org/officeDocument/2006/relationships/notesMaster" Target="/ppt/notesMasters/notesMaster1.xml" Id="Rd929ee9b49f845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f1324fd9ee4615" /><Relationship Type="http://schemas.openxmlformats.org/officeDocument/2006/relationships/notesMaster" Target="/ppt/notesMasters/notesMaster1.xml" Id="R6b6e1ac0562744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9b9958f354479d" /><Relationship Type="http://schemas.openxmlformats.org/officeDocument/2006/relationships/notesMaster" Target="/ppt/notesMasters/notesMaster1.xml" Id="R7488871055a046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5eda326d4b4957" /><Relationship Type="http://schemas.openxmlformats.org/officeDocument/2006/relationships/notesMaster" Target="/ppt/notesMasters/notesMaster1.xml" Id="Rb97ba63f1acf4b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f11b6d64a54c6d" /><Relationship Type="http://schemas.openxmlformats.org/officeDocument/2006/relationships/notesMaster" Target="/ppt/notesMasters/notesMaster1.xml" Id="R897197b6773844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ea1c1684b6446c" /><Relationship Type="http://schemas.openxmlformats.org/officeDocument/2006/relationships/notesMaster" Target="/ppt/notesMasters/notesMaster1.xml" Id="R3ae62ad0d88f44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2648ad192e4d06" /><Relationship Type="http://schemas.openxmlformats.org/officeDocument/2006/relationships/notesMaster" Target="/ppt/notesMasters/notesMaster1.xml" Id="R5aed8816e23a43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b6c93518fa4fa6" /><Relationship Type="http://schemas.openxmlformats.org/officeDocument/2006/relationships/notesMaster" Target="/ppt/notesMasters/notesMaster1.xml" Id="R740f9b0c641947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313cc5bfcc4be4" /><Relationship Type="http://schemas.openxmlformats.org/officeDocument/2006/relationships/notesMaster" Target="/ppt/notesMasters/notesMaster1.xml" Id="Rc64add234f664a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3b3efa7f30346fa" /><Relationship Type="http://schemas.openxmlformats.org/officeDocument/2006/relationships/notesMaster" Target="/ppt/notesMasters/notesMaster1.xml" Id="R0b2df2eccd5847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f7c6f669bd4d18" /><Relationship Type="http://schemas.openxmlformats.org/officeDocument/2006/relationships/notesMaster" Target="/ppt/notesMasters/notesMaster1.xml" Id="R1cbfa7dec7a245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297e0158b684e3b" /><Relationship Type="http://schemas.openxmlformats.org/officeDocument/2006/relationships/notesMaster" Target="/ppt/notesMasters/notesMaster1.xml" Id="R51cc6fbab842437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3d8899e1b7a451e" /><Relationship Type="http://schemas.openxmlformats.org/officeDocument/2006/relationships/notesMaster" Target="/ppt/notesMasters/notesMaster1.xml" Id="R47a909bdf4ae4be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bcf5a1da5ec465b" /><Relationship Type="http://schemas.openxmlformats.org/officeDocument/2006/relationships/notesMaster" Target="/ppt/notesMasters/notesMaster1.xml" Id="R53ee9b36d1c14b4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e5a4bcfa44b4ab9" /><Relationship Type="http://schemas.openxmlformats.org/officeDocument/2006/relationships/notesMaster" Target="/ppt/notesMasters/notesMaster1.xml" Id="Raa75308f73ad457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e35d9245810443a" /><Relationship Type="http://schemas.openxmlformats.org/officeDocument/2006/relationships/notesMaster" Target="/ppt/notesMasters/notesMaster1.xml" Id="Re9d52ab25761469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7c1385e3fd04af8" /><Relationship Type="http://schemas.openxmlformats.org/officeDocument/2006/relationships/notesMaster" Target="/ppt/notesMasters/notesMaster1.xml" Id="R2737d06fe9f945f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5174857bab34271" /><Relationship Type="http://schemas.openxmlformats.org/officeDocument/2006/relationships/notesMaster" Target="/ppt/notesMasters/notesMaster1.xml" Id="Rbb03e464ff9846f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cb9f6444eaf46f5" /><Relationship Type="http://schemas.openxmlformats.org/officeDocument/2006/relationships/notesMaster" Target="/ppt/notesMasters/notesMaster1.xml" Id="Rd4365f6b406d42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Proyecto académico independiente. César alude a la mascota del CESA. Imagen institucional: https://www.cesa.edu.co/experiencia-cesa/bienestar/ . La institución no ha avalado el proyecto. El equipo aparece en una diapositiva posterior.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Adaptación de los campos de persona propuestos por HubSpot: metas, motivaciones, comportamiento, retos y criterios de decisión. https://blog.hubspot.com/marketing/buyer-persona-research . Las necesidades provienen de la encuesta de estudiantes aportada por Luis (n=10), pero Juan no es entrevistado ni representa estadísticamente al CESA. Foto de Bùi Hoàng Long bajo Unsplash License: https://unsplash.com/photos/a-young-man-sitting-in-front-of-a-laptop-computer-SO__Gs6W0ks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Escena de uso ilustrativa, no reconstrucción de una persona real. La cita es una respuesta textual anónima a la pregunta sobre desconfianza de la encuesta estudiantil. Foto de Zoshua Colah bajo Unsplash License: https://unsplash.com/photos/student-studies-at-a-library-with-books-klbApl9mxr0 . Es una universidad distinta del CESA y se usa solo como imagen ilustrativa.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Cálculo directo del XLSX Encuesta_ Chatbot de dudas y matrícula CESA: 9 respuestas Sí y 1 No a pérdida de cupo. Dificultad 5 respuestas 5/5, 1 respuesta 4/5, 3 respuestas 3/5, 1 respuesta 1/5, promedio 3,9/5. Son autorreportes de n=10; no generalizar al total del CESA.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XLSX Encuesta_ Viabilidad de un chatbot para CESA Contigo, dos respuestas. Ambos estimaron 200 consultas/semana normal y 'Se duplica o más' en matrícula. No sumar las respuestas a 400: se refieren a una carga estimada de su área. Una persona marcó 'Poco probable' y otra 'Necesitaría evaluarlo más' para colaborar en integraciones. Foto de Vitaly Gariev bajo Unsplash License: https://unsplash.com/photos/students-talking-in-a-lecture-hall-during-class-9faEJgSvmjc . Imagen ilustrativa de estudiantes, no de CESA Contigo.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Síntesis interpretativa de la encuesta de 10 estudiantes, las dos respuestas de CESA Contigo y el conflicto de ubicación del Laboratorio Financiero. No es una métrica ni un diagnóstico institucional medido. El enfoque de fuente, precisión y abstención se validó en el prototipo documentado.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Visión futura solicitada por Luis. Nido, horarios y citas no están conectados hoy. Para Nido se requerirían API/autorización e identidad; el horario requeriría oferta, cupos y reglas oficiales; las citas requieren calendarios y permisos. Foto de Zoshua Colah, Universidad de Washington, ilustrativa y no CESA: https://unsplash.com/photos/students-walk-by-a-campus-building-under-a-tree-kaZHJj-DhC4 , Unsplash License.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Mockup conceptual, no captura de una herramienta implementada. El CESA sí publica instrucciones de certificados: https://www.cesa.edu.co/registro-y-control/ . El prototipo responde a esa consulta con la fuente pública, sin entrar a Nido. Para fuentes internas futuras se requieren autorización institucional, API y control de acceso.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Mockup con cursos A, B y C ficticios. No mostrar como horario real del CESA. La malla aportada por Luis solo lista asignaturas y créditos; no proporciona NRC, grupos, cupos ni horas. La preferencia de salir antes de las 2 p. m. es un ejemplo pedido por Luis. No existe motor de optimización conectado en el prototipo.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Mockup conceptual. Ninguna agenda de Pregrado, Prácticas y Visitas o Internacionalización está conectada. El Centro DIGA sí publica 'Agenda una cita' en https://www.cesa.edu.co/experiencia-cesa/centros-de-apoyo/ ; no equivale a que el bot pueda reservar. Foto ilustrativa de Fer Troulik bajo Unsplash License: https://unsplash.com/photos/people-studying-at-tables-in-a-modern-library-ct1NZSUSWUc . No es la biblioteca del CESA.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Arquitectura futura, no demostración actual. SQLite es almacenamiento/búsqueda, no un modelo de lenguaje. Apify: https://docs.apify.com/platform/actors/ . Composio MCP: https://docs.composio.dev/docs/composio-connect . XGBoost learning-to-rank requiere etiquetas de relevancia y grupos de resultados por consulta; no se entrena automáticamente en el intercambio scraper/base: https://xgboost.readthedocs.io/en/stable/tutorials/learning_to_rank.html . Nido y datos privados requieren API, permisos, identidad y protección institucional. Las flechas indican orden lógico, no latencias verificadas.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prototipo funciona como demo local: el PC personal debe permanecer encendido y con conexión a Internet. También deben estar activos el servidor Python de app.py y el gateway de OpenClaw para que César atienda por Telegram. No existe alojamiento institucional ni disponibilidad 24/7. La cuenta Telegram cesa está configurada para recibir mensajes privados sin emparejamiento, pero la respuesta de extremo a extremo desde la cuenta externa de la captura sigue pendiente de verificación. En el repositorio están el código, la identidad y tres skills del agente. El apoyo emocional se limita a acompañamiento no clínico.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real entregada por Luis. Fuente oficial del procedimiento: https://www.cesa.edu.co/registro-y-control/ . Esta captura no implica integración con Nido ni ejecución del trámite.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real entregada por Luis. Reglamento: https://www.cesa.edu.co/documents/731/Reglamento_general_de_estudiantes.pdf . El artículo 44 y su vigencia deben comprobarse antes de decisiones académicas individuales.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real entregada por Luis. No hay API ni autorización de Nido personal. La abstención es correcta para esta pregunta. No atribuir a esta demo una prueba de seguridad integral.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página https://www.cesa.edu.co/experiencia-cesa/centros-de-apoyo/ indicaba la Biblioteca; Luis informó cuarto piso de Innovación, sin corroboración institucional. La ubicación actual sigue no verificada. Captura real del bot corregido. No publicar el dato del cuarto piso como hecho.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EVALUACION_15_2026-09-24.md. Las preguntas fueron simuladas, no conversaciones reales. 11 aprobadas, 4 devueltas, 0 no usables después de correcciones. La batería corrió por HTTP local, no en Telegram; no se probó OpenAI Responses con clave independiente. Evitar afirmar precisión generalizable o una tasa de éxito institucional.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encuesta de 10 estudiantes aportada por Luis. Pregunta de canal preferido: 6 plataforma web de la universidad, 4 WhatsApp, 0 Telegram. No inferir comportamiento de toda la población. Telegram se eligió para prototipo por facilidad de configuración, no por ser canal preferido de la muestra.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Secuencia propuesta, sin cronograma ni aprobación institucional. En las dos respuestas de CESA Contigo, una colaboración para acceso/integraciones fue 'Poco probable' y la otra requería más evaluación. XGBoost no es un requisito del MVP y solo se justificaría con etiquetas de relevancia, baseline y pruebas fuera de muestra. Las citas requieren acceso a agendas y consentimiento de las áreas. Actualización: validar con una cuenta externa si el mensaje llega, se enruta y recibe respuesta; medir tiempos y consumo de API. La configuración abierta por QR no limita el acceso solo a quienes tengan el QR.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Roles comunicados por el equipo. Juan Zapata realizó pruebas del prototipo. Juan Pablo Salazar asumió la perspectiva de usuario y realizó encuestas a estudiantes y a CESA Contigo para determinar qué implementar y qué descartar. Luis Gutiérrez construyó el chatbot y el contenido del repositorio. Benjamín Herrera creó la presentación.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Código QR aportado por Luis para acceder visualmente a @CESAR_CHATBOT en Telegram. No se verificó mediante escaneo independiente el destino codificado ni una respuesta de extremo a extremo desde otra cuenta. La demostración solo está disponible mientras el PC personal, el servidor Python y OpenClaw estén activos. La imagen QR sustituye la fotografía institucional que aparecía en la versión anterior de esta diapositiva.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343a67a3af40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93ad2cc4394667" /><Relationship Type="http://schemas.openxmlformats.org/officeDocument/2006/relationships/slideLayout" Target="/ppt/slideLayouts/slideLayout1.xml" Id="R2f600ada10e34c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600ada10e34c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97537fb724271" /><Relationship Type="http://schemas.openxmlformats.org/officeDocument/2006/relationships/image" Target="/ppt/media/image.jpeg" Id="R8fc3452595ce44c3" /><Relationship Type="http://schemas.openxmlformats.org/officeDocument/2006/relationships/notesSlide" Target="/ppt/notesSlides/notesSlide1.xml" Id="R1f8826eb43a248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6a81379ed4047" /><Relationship Type="http://schemas.openxmlformats.org/officeDocument/2006/relationships/image" Target="/ppt/media/image2.jpeg" Id="R7ff0ebf1071a4253" /><Relationship Type="http://schemas.openxmlformats.org/officeDocument/2006/relationships/notesSlide" Target="/ppt/notesSlides/notesSlide2.xml" Id="R5847f115aa4a43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e5be80e794da9" /><Relationship Type="http://schemas.openxmlformats.org/officeDocument/2006/relationships/image" Target="/ppt/media/image3.jpeg" Id="R45aa5ed4ff044dc2" /><Relationship Type="http://schemas.openxmlformats.org/officeDocument/2006/relationships/notesSlide" Target="/ppt/notesSlides/notesSlide3.xml" Id="Rfaa7681ca4d84d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5714db4fa14cba" /><Relationship Type="http://schemas.openxmlformats.org/officeDocument/2006/relationships/notesSlide" Target="/ppt/notesSlides/notesSlide4.xml" Id="R67e26587c5704a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5d209d21b4de6" /><Relationship Type="http://schemas.openxmlformats.org/officeDocument/2006/relationships/image" Target="/ppt/media/image4.jpeg" Id="Rf8b5774753c047cb" /><Relationship Type="http://schemas.openxmlformats.org/officeDocument/2006/relationships/notesSlide" Target="/ppt/notesSlides/notesSlide5.xml" Id="Rb6d4dc62b1aa43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e19d985804f06" /><Relationship Type="http://schemas.openxmlformats.org/officeDocument/2006/relationships/notesSlide" Target="/ppt/notesSlides/notesSlide6.xml" Id="R78b256a00206450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d53430d6734a4d" /><Relationship Type="http://schemas.openxmlformats.org/officeDocument/2006/relationships/image" Target="/ppt/media/image5.jpeg" Id="Rea5dee0e761f4ee3" /><Relationship Type="http://schemas.openxmlformats.org/officeDocument/2006/relationships/notesSlide" Target="/ppt/notesSlides/notesSlide7.xml" Id="Rc262a706c7cb40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3f5db3a634698" /><Relationship Type="http://schemas.openxmlformats.org/officeDocument/2006/relationships/notesSlide" Target="/ppt/notesSlides/notesSlide8.xml" Id="R3b8865d5a4d145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a370b840e41a6" /><Relationship Type="http://schemas.openxmlformats.org/officeDocument/2006/relationships/notesSlide" Target="/ppt/notesSlides/notesSlide9.xml" Id="Rca0a06aafeb14c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64b2ded6034711" /><Relationship Type="http://schemas.openxmlformats.org/officeDocument/2006/relationships/image" Target="/ppt/media/image6.jpeg" Id="Rff47c2281bb54d45" /><Relationship Type="http://schemas.openxmlformats.org/officeDocument/2006/relationships/notesSlide" Target="/ppt/notesSlides/notesSlide10.xml" Id="R420a309a11ac43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2c012861642eb" /><Relationship Type="http://schemas.openxmlformats.org/officeDocument/2006/relationships/notesSlide" Target="/ppt/notesSlides/notesSlide11.xml" Id="R65eb96a13a894cc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6697ba50c4242" /><Relationship Type="http://schemas.openxmlformats.org/officeDocument/2006/relationships/notesSlide" Target="/ppt/notesSlides/notesSlide12.xml" Id="Rd467c74bdc574c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98b0142aa4f3c" /><Relationship Type="http://schemas.openxmlformats.org/officeDocument/2006/relationships/image" Target="/ppt/media/image.png" Id="R5d2dbd1f22d04e59" /><Relationship Type="http://schemas.openxmlformats.org/officeDocument/2006/relationships/notesSlide" Target="/ppt/notesSlides/notesSlide13.xml" Id="R5636b016fcef428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6f3c6b634f456c" /><Relationship Type="http://schemas.openxmlformats.org/officeDocument/2006/relationships/image" Target="/ppt/media/image2.png" Id="Rf0c391fabe784ea0" /><Relationship Type="http://schemas.openxmlformats.org/officeDocument/2006/relationships/notesSlide" Target="/ppt/notesSlides/notesSlide14.xml" Id="R9ace1b1cf18f429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8cf018b624d60" /><Relationship Type="http://schemas.openxmlformats.org/officeDocument/2006/relationships/image" Target="/ppt/media/image3.png" Id="Rd9517c0ee9044da8" /><Relationship Type="http://schemas.openxmlformats.org/officeDocument/2006/relationships/notesSlide" Target="/ppt/notesSlides/notesSlide15.xml" Id="R491e65cd31764b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8095bc588645ed" /><Relationship Type="http://schemas.openxmlformats.org/officeDocument/2006/relationships/image" Target="/ppt/media/image4.png" Id="Rcfb0e757ebb24ed1" /><Relationship Type="http://schemas.openxmlformats.org/officeDocument/2006/relationships/notesSlide" Target="/ppt/notesSlides/notesSlide16.xml" Id="Rb351c91f629e432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76f6ffa7b4a76" /><Relationship Type="http://schemas.openxmlformats.org/officeDocument/2006/relationships/notesSlide" Target="/ppt/notesSlides/notesSlide17.xml" Id="R5bc65b160c4846f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99550a938348c8" /><Relationship Type="http://schemas.openxmlformats.org/officeDocument/2006/relationships/notesSlide" Target="/ppt/notesSlides/notesSlide18.xml" Id="R139faf561e8c4cd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733564569e47ea" /><Relationship Type="http://schemas.openxmlformats.org/officeDocument/2006/relationships/notesSlide" Target="/ppt/notesSlides/notesSlide19.xml" Id="R875ee006e8bf4be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c4fa777ee4b7d" /><Relationship Type="http://schemas.openxmlformats.org/officeDocument/2006/relationships/notesSlide" Target="/ppt/notesSlides/notesSlide20.xml" Id="Rfa1a4d5c2cda433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44edade0342b4" /><Relationship Type="http://schemas.openxmlformats.org/officeDocument/2006/relationships/image" Target="/ppt/media/image7.jpeg" Id="R0c8b2e0e9dba4d7c" /><Relationship Type="http://schemas.openxmlformats.org/officeDocument/2006/relationships/notesSlide" Target="/ppt/notesSlides/notesSlide21.xml" Id="Rca3a045cc6b94d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03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c3452595ce44c3"/>
          <a:srcRect xmlns:a="http://schemas.openxmlformats.org/drawingml/2006/main" l="15458" t="0" r="1545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91200" y="600075"/>
            <a:ext cx="5829300" cy="56197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4367FF-0AF1-4DEC-8DED-55CDED19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50482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 nuevo chatbot</a:t>
            </a:r>
          </a:p>
          <a:p xmlns:a="http://schemas.openxmlformats.org/drawingml/2006/main">
            <a:pPr algn="l">
              <a:buNone/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César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0B0B4-B2E5-4C59-931E-D8162E6D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48075"/>
            <a:ext cx="4857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B9D2"/>
                </a:solidFill>
                <a:latin typeface="Arial"/>
                <a:ea typeface="Arial"/>
                <a:cs typeface="Arial"/>
              </a:rPr>
              <a:t>Una forma de encontrar respuestas estudiantiles confiables</a:t>
            </a:r>
          </a:p>
        </p:txBody>
      </p:sp>
    </p:spTree>
    <p:extLst>
      <p:ext uri="{BB962C8B-B14F-4D97-AF65-F5344CB8AC3E}">
        <p14:creationId xmlns:p14="http://schemas.microsoft.com/office/powerpoint/2010/main" val="3787827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D8999E-F9A6-4227-970F-4D7F6BBE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Juan, estudiante que necesita decidir con información clara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66007-1321-4722-BA3E-5B4019DC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f0ebf1071a4253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95425"/>
            <a:ext cx="3429000" cy="4572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03610F-6AD9-4C5E-9AD9-1B49BEA4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5732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Buyer persona ilustrativo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06034-0560-4635-A311-582F2A76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00225"/>
            <a:ext cx="69627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4.º semestre de Administración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0CA462-2C88-41CE-9617-4EE2A434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717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F90EEF-F0F5-4F15-AF99-DC823EAB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14600"/>
            <a:ext cx="18859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Meta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CF121-A060-492B-8738-EF5E21D8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66975"/>
            <a:ext cx="5133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Organizar su matrícula y resolver trámites a tiempo.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2882A-8B0D-4B24-8C47-5B0E82EE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62300"/>
            <a:ext cx="18859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Motivación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04EA8-AADB-4CE0-A933-BEABAEFD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038475"/>
            <a:ext cx="5133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Evitar perder opciones de clase y tener más control sobre su semana.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74EC83-8AA6-4E9F-A9DF-B9486152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71925"/>
            <a:ext cx="18859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Comportamiento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4FD94-36CD-4792-81F7-26E58B7A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857625"/>
            <a:ext cx="51339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Consulta compañeros, personal del CESA y páginas de la universidad.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3EF61-EB76-4A96-9A92-0266971D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57750"/>
            <a:ext cx="1885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Criterio de confianza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093A69-E31F-421F-B1B7-E1DB7B31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743450"/>
            <a:ext cx="51339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Pasos específicos, enlace verificable y una salida humana si el caso es excepcional.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271FE3-8C1F-4F98-ABC6-442551D7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00775"/>
            <a:ext cx="1047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Persona hipotética a partir de encuesta exploratoria; foto ilustrativa, no de un alumno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4610055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03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a5ed4ff044dc2"/>
          <a:srcRect xmlns:a="http://schemas.openxmlformats.org/drawingml/2006/main" l="21019" t="0" r="210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29350" y="0"/>
            <a:ext cx="59626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2E6F9-7BA2-4146-82CE-B7C78615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438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DBA75F-CA57-4D66-808E-6E0168DF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5429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La decisión llega</a:t>
            </a:r>
          </a:p>
          <a:p xmlns:a="http://schemas.openxmlformats.org/drawingml/2006/main">
            <a:pPr algn="l">
              <a:buNone/>
              <a:defRPr sz="3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antes que la respuesta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4B8CC4-40B9-42BE-9E4C-802833F8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2725"/>
            <a:ext cx="521017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Juan busca el procedimiento, compara horarios y confirma requisitos en más de un canal. Durante matrícula, esa búsqueda consume el tiempo disponible para decidir.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024AAA-713E-49A2-AEC3-2599C939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38700"/>
            <a:ext cx="506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B748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A213A-B02E-4BDB-8A31-3B6D5BE3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10150"/>
            <a:ext cx="50387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“Que se equivoque, o que no pueda resolver mi duda”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035CA-CCD1-4DFC-A73E-AD3A86D2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00775"/>
            <a:ext cx="1047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4E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D4E0"/>
                </a:solidFill>
                <a:latin typeface="Arial"/>
                <a:ea typeface="Arial"/>
                <a:cs typeface="Arial"/>
              </a:rPr>
              <a:t>Cita textual anónima de la encuesta de estudiantes, n=10.</a:t>
            </a:r>
          </a:p>
        </p:txBody>
      </p:sp>
    </p:spTree>
    <p:extLst>
      <p:ext uri="{BB962C8B-B14F-4D97-AF65-F5344CB8AC3E}">
        <p14:creationId xmlns:p14="http://schemas.microsoft.com/office/powerpoint/2010/main" val="12123925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03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7336F-2BFE-410F-A267-5463C03B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 costo de una duda aparece al matricular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E15934-A08F-4C94-9B45-93B879E2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09BAC-3BB1-47B8-9ECF-617F6E27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43075"/>
            <a:ext cx="3171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37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637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9/10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6DB49-4B83-4FD8-8709-CB2606B8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81300"/>
            <a:ext cx="428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dijeron haber perdido un cupo por una decisión tardía o un error al armar el horario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EAA95-B60E-45AA-9633-68CF98C6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67640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718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C1A55-EDEF-4C5E-856C-E6E3E7D2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752600"/>
            <a:ext cx="44291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3,9/5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48A63-4806-4C7B-9471-2F7D2A9D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71775"/>
            <a:ext cx="4857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dificultad promedio para armar el horario ideal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47277-0043-4BA1-B3F6-F761C27C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2920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El dato es una señal para investigar, no una tasa institucional.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F87EDC-4B8A-47AD-AFD8-A1C64CB1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00775"/>
            <a:ext cx="1047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4E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D4E0"/>
                </a:solidFill>
                <a:latin typeface="Arial"/>
                <a:ea typeface="Arial"/>
                <a:cs typeface="Arial"/>
              </a:rPr>
              <a:t>Encuesta exploratoria de 10 estudiantes aportada por el equipo; muestra no representativa.</a:t>
            </a:r>
          </a:p>
        </p:txBody>
      </p:sp>
    </p:spTree>
    <p:extLst>
      <p:ext uri="{BB962C8B-B14F-4D97-AF65-F5344CB8AC3E}">
        <p14:creationId xmlns:p14="http://schemas.microsoft.com/office/powerpoint/2010/main" val="15517043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59C8C-7A21-4136-99B1-D139A918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CESA Contigo recibe las mismas dudas en volumen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BB7CAA-34FE-4E98-A375-3D7BAEFF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5774753c047cb"/>
          <a:srcRect xmlns:a="http://schemas.openxmlformats.org/drawingml/2006/main" l="20386" t="0" r="2038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48475" y="1466850"/>
            <a:ext cx="4781550" cy="45434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1AFFB-6F1C-42F0-BF6A-CCFB9769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81150"/>
            <a:ext cx="569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Dos informantes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6F94A-A622-41F0-88CB-3C912731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152650"/>
            <a:ext cx="57245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Líder de experiencia estudiantil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A7C38-689A-4A03-B1EA-084ECF32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552700"/>
            <a:ext cx="57435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Cupos, cruces y requisitos.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98B994-1F3D-4BF7-B357-1F10A0EF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248025"/>
            <a:ext cx="5848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Analista de Experiencia y Permanencia Estudiantil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5F824-DB4B-4D56-BEAF-B8EFA510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886200"/>
            <a:ext cx="58483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Pagos, certificados e incapacidades.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20E3FB-A9D7-483F-9665-4B6F8FA8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676775"/>
            <a:ext cx="5772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286C3-2050-44B9-A853-C7E3F745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886325"/>
            <a:ext cx="580072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Ambos estimaron unas 200 consultas por semana normal y al menos el doble en matrícula.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F385CE-30C1-47BC-A022-A9FD2D31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00775"/>
            <a:ext cx="1047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Dos respuestas de CESA Contigo; estimaciones, no registros administrativos.</a:t>
            </a:r>
          </a:p>
        </p:txBody>
      </p:sp>
    </p:spTree>
    <p:extLst>
      <p:ext uri="{BB962C8B-B14F-4D97-AF65-F5344CB8AC3E}">
        <p14:creationId xmlns:p14="http://schemas.microsoft.com/office/powerpoint/2010/main" val="17659102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260A3-3D13-49F4-8491-8CC73FBA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0485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El problema que atacamos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73F9B-0C8B-4BA1-809C-FFD503E1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52575"/>
            <a:ext cx="10544175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Una respuesta dispersa puede llegar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después de que el estudiante decidió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F8798-1F1B-4613-BB70-4C2DC015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918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El asistente debe encontrar la instrucción precisa, mostrar su fuente y reconocer cuándo la información no alcanza.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E5D53-64EB-428D-B4B1-67716BC4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080AEC-2C9B-43C2-A6D6-C6598983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53075"/>
            <a:ext cx="107537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No automatizar una decisión equivocada</a:t>
            </a:r>
          </a:p>
        </p:txBody>
      </p:sp>
    </p:spTree>
    <p:extLst>
      <p:ext uri="{BB962C8B-B14F-4D97-AF65-F5344CB8AC3E}">
        <p14:creationId xmlns:p14="http://schemas.microsoft.com/office/powerpoint/2010/main" val="10022231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03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5dee0e761f4ee3"/>
          <a:srcRect xmlns:a="http://schemas.openxmlformats.org/drawingml/2006/main" l="25926" t="0" r="2592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B2790-2DEE-4FB5-BA40-C6262AE6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0"/>
            <a:ext cx="72675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C2B49C-6AF8-443E-B909-598AB73A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561975"/>
            <a:ext cx="628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César: la solución propuesta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E3529E-DA9B-4C29-9557-DBADF09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695450"/>
            <a:ext cx="7429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DB1EA-166B-4423-8124-97E8FFBF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14500"/>
            <a:ext cx="51911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Buscar en Nido y fuentes autorizadas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B3E46A-B9EF-4710-BA24-CE6BC4FE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33675"/>
            <a:ext cx="6057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C587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CFFD5-0F7A-46E9-883F-967A4D42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038475"/>
            <a:ext cx="7429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28D2C3-60F6-45DA-82C3-E391F011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057525"/>
            <a:ext cx="51911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Preparar horarios con preferencias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620C8F-18E8-4DF3-BFE1-C5AC9F30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76700"/>
            <a:ext cx="6057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C587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BD03B6-CC06-4D50-B96F-22770579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381500"/>
            <a:ext cx="7429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FECEDF-1036-4410-BB52-A7B4660E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400550"/>
            <a:ext cx="51911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Agendar citas con el área correcta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D4C4F-7478-4E59-8A0D-FD0D98F3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5857875"/>
            <a:ext cx="59721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 propuesta no modifica la interfaz ni el sistema de Nido.</a:t>
            </a:r>
          </a:p>
        </p:txBody>
      </p:sp>
    </p:spTree>
    <p:extLst>
      <p:ext uri="{BB962C8B-B14F-4D97-AF65-F5344CB8AC3E}">
        <p14:creationId xmlns:p14="http://schemas.microsoft.com/office/powerpoint/2010/main" val="733042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2880E-E5C9-4090-BD09-0AA87EDE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Búsqueda en Nido y otras fuentes autorizadas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A47568-5CE5-4A12-93B7-38C877B4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0EE33-FD99-4971-9F30-DE208536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333500"/>
            <a:ext cx="10696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VISIÓN FUTURA · CONCEPTO, NO CONEXIÓN ACTUAL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7680B-BEA3-4CA9-92C5-695C1AEF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57375"/>
            <a:ext cx="11049000" cy="3867150"/>
          </a:xfrm>
          <a:prstGeom xmlns:a="http://schemas.openxmlformats.org/drawingml/2006/main" prst="roundRect">
            <a:avLst>
              <a:gd name="adj" fmla="val 1970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B0618-7868-4DED-BE28-1AE1B2C0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57375"/>
            <a:ext cx="11049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369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D1026-A0CC-4C12-9EF4-7FAB9FFE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33575"/>
            <a:ext cx="195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César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A0882A-E178-4705-A433-F361E33E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95262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Buscador estudiantil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C6E22F-7A5F-4B67-95EC-36F4E5B1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62225"/>
            <a:ext cx="647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¿Cómo solicito un certificado?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DA72E-BAD2-4CD6-9298-799F2F60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042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B71C5-6DFB-472C-A2E0-4245E972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21050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Respuesta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0FBDD2-EEE1-434E-8412-497AA44B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14775"/>
            <a:ext cx="9458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Pasos, requisito aplicable y enlace institucional para comprobarlo.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F5DD5C-79B3-4A39-97DF-310845D2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43475"/>
            <a:ext cx="6257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Fuente: Registro y Control CESA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3C3AE6-4C3B-4B06-B5EF-812F2E7C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33950"/>
            <a:ext cx="38004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Nido solo con acceso concedido por la universidad</a:t>
            </a:r>
          </a:p>
        </p:txBody>
      </p:sp>
    </p:spTree>
    <p:extLst>
      <p:ext uri="{BB962C8B-B14F-4D97-AF65-F5344CB8AC3E}">
        <p14:creationId xmlns:p14="http://schemas.microsoft.com/office/powerpoint/2010/main" val="10528670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049270-F3D1-4C55-A503-5F59CE82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Horario compatible con preferencias y restricciones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5B67E-F263-4509-AABD-82A12D9D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4E3B2-A686-4094-AC1A-6C10BCA1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333500"/>
            <a:ext cx="10696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VISIÓN FUTURA · EJEMPLO FICTICIO, SIN OFERTA REAL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43BAA1-9711-4518-83CB-0E82FECA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790700"/>
            <a:ext cx="45815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“Quiero salir</a:t>
            </a:r>
          </a:p>
          <a:p xmlns:a="http://schemas.openxmlformats.org/drawingml/2006/main">
            <a:pPr algn="l">
              <a:buNone/>
              <a:defRPr sz="217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máximo a las 2 p. m.”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4DD9D-0A3B-4B31-BCD6-CE921ABF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714625"/>
            <a:ext cx="439102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El motor comprobaría cruces, grupos disponibles y condiciones académicas antes de sugerir opciones.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9E009-ADF0-4E5E-B19B-2C496C5F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762125"/>
            <a:ext cx="6191250" cy="3724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D1F98-94C8-468B-8D5C-4EE9BB80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14525"/>
            <a:ext cx="933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Lun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3FD4F-A7DA-447E-939D-C402CD87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05050"/>
            <a:ext cx="0" cy="2962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87773-20A7-4E36-9DAC-219ABA36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914525"/>
            <a:ext cx="933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0D96DE-326C-49E1-91BE-A544FC15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05050"/>
            <a:ext cx="0" cy="2962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2F6D4B-2209-405D-858C-9B2F9749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14525"/>
            <a:ext cx="933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Mié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78B66-5262-4E95-8E70-532CC3F9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05050"/>
            <a:ext cx="0" cy="2962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E05341-16C7-43B7-B36B-0417972F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914525"/>
            <a:ext cx="933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Jue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4BFDE-3C2E-4BEB-9171-9D9243F3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05050"/>
            <a:ext cx="0" cy="2962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FE0849-3C89-4F38-A828-1B426C1E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914525"/>
            <a:ext cx="933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Vie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8D2D50-6E84-4CB2-926C-844420C4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05050"/>
            <a:ext cx="0" cy="2962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81179-42FC-4556-96ED-19C637DE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2305050"/>
            <a:ext cx="0" cy="2962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DD639C-0446-4FCC-8263-B014ADE7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457450"/>
            <a:ext cx="561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8:00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8D1FAB-7F59-47AD-B04C-3CF6AE6C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7241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78FDC5-CEC3-498A-BBA7-496F395A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152775"/>
            <a:ext cx="561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10:00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08F8E2-51AC-4ACC-B152-F7E7777B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19475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3D1A1A-FE32-4357-AFA6-2D86AD2D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848100"/>
            <a:ext cx="561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12:00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EF2827-DD77-4A18-86E9-6DB951BC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1148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1F7400-4501-45C5-9668-77D00667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543425"/>
            <a:ext cx="561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14:00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6FC949-84CA-4662-BF56-17465C64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810125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80B9B7-8E14-4BBD-8D8F-E2719810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62225"/>
            <a:ext cx="942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5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3754A8-0D0D-4541-B5E9-EF161E2C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67000"/>
            <a:ext cx="866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Curso 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FF634C-EC48-4668-B0F3-41206BBB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257550"/>
            <a:ext cx="942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F8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103ADC-D8C2-4DD6-BDFB-9C926A0D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362325"/>
            <a:ext cx="866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Curso 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5C0D1C-9CC4-41EA-8850-0D7E8451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62225"/>
            <a:ext cx="942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5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DF25C6-33E7-4AC6-B021-43532B50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67000"/>
            <a:ext cx="866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Curso 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99B3C0-F263-4F1A-83B7-6D79E7C6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57550"/>
            <a:ext cx="942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F8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EE9F4E-64E7-4ED9-9395-192775F9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362325"/>
            <a:ext cx="866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Curso 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2EEF0A-2E60-49EA-B62D-DFB9476E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962400"/>
            <a:ext cx="942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5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56B97D-383C-4749-991F-EB51CAA5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67175"/>
            <a:ext cx="866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Curso B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B42E6D-2C7F-48B7-9A4A-4FC9AA56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029200"/>
            <a:ext cx="4457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9414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A94148"/>
                </a:solidFill>
                <a:latin typeface="Arial"/>
                <a:ea typeface="Arial"/>
                <a:cs typeface="Arial"/>
              </a:rPr>
              <a:t>No arma horarios hoy ni conoce cupos o NRC actuales.</a:t>
            </a:r>
          </a:p>
        </p:txBody>
      </p:sp>
    </p:spTree>
    <p:extLst>
      <p:ext uri="{BB962C8B-B14F-4D97-AF65-F5344CB8AC3E}">
        <p14:creationId xmlns:p14="http://schemas.microsoft.com/office/powerpoint/2010/main" val="9679055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EA6B3-E2E9-48DB-AD02-48D816D5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Agendar con el equipo correcto sin mensajes dispersos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F72A7-A8FD-4E2A-BE26-FAED63C0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45133-EC60-45EB-B0AC-01DFD6C9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333500"/>
            <a:ext cx="10696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VISIÓN FUTURA · CONCEPTO, NO RESERVA REAL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598B2-26E3-42E2-8F44-D875D0CD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809750"/>
            <a:ext cx="5648325" cy="3895725"/>
          </a:xfrm>
          <a:prstGeom xmlns:a="http://schemas.openxmlformats.org/drawingml/2006/main" prst="roundRect">
            <a:avLst>
              <a:gd name="adj" fmla="val 1956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79998-7A93-4461-BCD9-B46BC8D4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0196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¿Con quién necesito hablar?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BE1E92-ACA7-4E1E-ACF2-D8B63F4D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857500"/>
            <a:ext cx="44862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Pregrado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81959-7459-4511-90E9-C7584398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400425"/>
            <a:ext cx="4972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A6958-03E1-44D0-86BB-EC6560D9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619500"/>
            <a:ext cx="4591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Prácticas y Visitas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45873A-D315-48D4-A40E-7ED25E55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71950"/>
            <a:ext cx="4972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690C1-07FD-4545-9540-220F7AF0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391025"/>
            <a:ext cx="46386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36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369"/>
                </a:solidFill>
                <a:latin typeface="Arial"/>
                <a:ea typeface="Arial"/>
                <a:cs typeface="Arial"/>
              </a:rPr>
              <a:t>Internacionalización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7c2281bb54d45"/>
          <a:srcRect xmlns:a="http://schemas.openxmlformats.org/drawingml/2006/main" l="3558" t="0" r="355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781175"/>
            <a:ext cx="4848225" cy="391477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318A48-8086-46A1-893A-2ABB55FA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829300"/>
            <a:ext cx="4772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Una cita concreta; casos excepcionales siguen con una persona.</a:t>
            </a:r>
          </a:p>
        </p:txBody>
      </p:sp>
    </p:spTree>
    <p:extLst>
      <p:ext uri="{BB962C8B-B14F-4D97-AF65-F5344CB8AC3E}">
        <p14:creationId xmlns:p14="http://schemas.microsoft.com/office/powerpoint/2010/main" val="14061577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BDB94A-B97B-4488-AED1-E8B9E722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Cómo respondería César en la versión completa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CB1AC-B37E-4517-BEA5-26C50817F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C6EC9C-7784-4AE0-A117-D8314E36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22002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Pregunta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53C894-CED9-45E4-AA89-318B03AB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28850"/>
            <a:ext cx="107346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8876E-5162-4051-8C94-26718634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495550"/>
            <a:ext cx="6381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DC7B4-7F7E-4209-8D51-987C16E5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47925"/>
            <a:ext cx="453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283C"/>
                </a:solidFill>
                <a:latin typeface="Arial"/>
                <a:ea typeface="Arial"/>
                <a:cs typeface="Arial"/>
              </a:rPr>
              <a:t>Consulta SQLite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E9BA20-8A00-4B46-BF95-4B809E72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38475"/>
            <a:ext cx="3552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Fuente suficiente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976B4-1656-4EEA-BE06-BEF40EF5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71800"/>
            <a:ext cx="641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Cita el documento y responde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AC7279-9A14-41C1-8B90-B64C5187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67125"/>
            <a:ext cx="107346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B49F0E-E778-4F54-89FE-15081213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914775"/>
            <a:ext cx="6381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6BA230-5901-43F6-84B5-BC3ED210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86200"/>
            <a:ext cx="42767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283C"/>
                </a:solidFill>
                <a:latin typeface="Arial"/>
                <a:ea typeface="Arial"/>
                <a:cs typeface="Arial"/>
              </a:rPr>
              <a:t>Si falta evidencia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74C66B-BF83-4403-BA42-5A659663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448175"/>
            <a:ext cx="9858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Web pública vía Apify o Nido mediante API autorizada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A1BE0F-976B-437E-890C-7DE17907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933950"/>
            <a:ext cx="985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Verificación de procedencia y vigencia → guardar en SQLite → responder o abstenerse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BBFF2-5525-462E-B5DA-E901D6C8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103917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Composio podría exponer las herramientas. XGBoost sería opcional para ordenar resultados, tras entrenar y validar con datos etiquetados.</a:t>
            </a:r>
          </a:p>
        </p:txBody>
      </p:sp>
    </p:spTree>
    <p:extLst>
      <p:ext uri="{BB962C8B-B14F-4D97-AF65-F5344CB8AC3E}">
        <p14:creationId xmlns:p14="http://schemas.microsoft.com/office/powerpoint/2010/main" val="1192654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FC37B6-776F-4FF3-853B-E935388D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Qué funciona hoy en el prototipo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685F02-8606-4F75-8294-7665727D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DDFD1-CF8E-46B9-B6FC-FB1C4241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00977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Telegram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60299-E117-4F87-9335-13C42FD2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590800"/>
            <a:ext cx="2562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DM abierto; prueba externa pendiente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1CDEC-3913-4659-B01F-1BE05759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4098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8B9D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9842EA-2A32-4F25-99CB-1276A18E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00977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OpenClaw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FA154-4568-46CD-BFBE-F1070F6A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590800"/>
            <a:ext cx="2562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identidad, 3 skills y cesa_lookup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E2804-29A5-4DC1-A1B5-1A8AC16B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098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8B9D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818421-410C-4DBB-B40E-4F33B6AC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Python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138091-A764-40F7-8D62-CBA2E0E6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90800"/>
            <a:ext cx="2562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consulta /api/chat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9D56C3-FA77-470B-8DE6-EA4FF88E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40982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8B9D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618BB-5372-4AE1-9D66-49689212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00977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SQLite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22FFE-F368-419B-9CC2-1DC55896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590800"/>
            <a:ext cx="2562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recupera ficha y enlace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A04756-67E5-4224-B116-B644FD0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11001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FD53CF-5117-43A9-9C60-7D5CDB23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952875"/>
            <a:ext cx="520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Si hay evidencia suficiente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67EB7E-9B87-4884-9D28-590DC603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419600"/>
            <a:ext cx="4972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Responde con enlace. Si hay conflicto, lo explica.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C7F97A-0F2D-49B4-ADEE-65E2D64E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49815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941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A94148"/>
                </a:solidFill>
                <a:latin typeface="Arial"/>
                <a:ea typeface="Arial"/>
                <a:cs typeface="Arial"/>
              </a:rPr>
              <a:t>Si falta cobertura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7EB3F6-B0A8-42D6-8180-DD8FF132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1500"/>
            <a:ext cx="4857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Una consulta pública acotada puede guardarse, pero el texto nuevo no se vuelve una respuesta verificada por sí solo.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D20FDF-E271-4C0F-8CC9-18335F99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087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Demo local: PC personal, servidor Python y OpenClaw activos. Código en GitHub.</a:t>
            </a:r>
          </a:p>
        </p:txBody>
      </p:sp>
    </p:spTree>
    <p:extLst>
      <p:ext uri="{BB962C8B-B14F-4D97-AF65-F5344CB8AC3E}">
        <p14:creationId xmlns:p14="http://schemas.microsoft.com/office/powerpoint/2010/main" val="428594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DF5F8-5BA0-4B7B-B103-2BF12327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Demostración: un certificado con pasos y enlace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3A2B9-CC90-41BE-A906-F020BB71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dbd1f22d04e59"/>
          <a:stretch xmlns:a="http://schemas.openxmlformats.org/drawingml/2006/main"/>
        </p:blipFill>
        <p:spPr>
          <a:xfrm xmlns:a="http://schemas.openxmlformats.org/drawingml/2006/main">
            <a:off x="1398425" y="1504950"/>
            <a:ext cx="3699199" cy="47910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BC05F-3686-4284-B489-886A5FFF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857375"/>
            <a:ext cx="5105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¿Cómo solicito un certificado?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6C696-F967-4F14-BC66-90DA9FDF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219450"/>
            <a:ext cx="4800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César indica la ruta en Nido y enlaza Registro y Control para comprobar el trámite.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6433F-7129-443B-BD35-1E57A272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5114925"/>
            <a:ext cx="4810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Telegram muestra el prototipo; no hay acceso personal a Nido.</a:t>
            </a:r>
          </a:p>
        </p:txBody>
      </p:sp>
    </p:spTree>
    <p:extLst>
      <p:ext uri="{BB962C8B-B14F-4D97-AF65-F5344CB8AC3E}">
        <p14:creationId xmlns:p14="http://schemas.microsoft.com/office/powerpoint/2010/main" val="76695252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D7AA6C-5FF5-4063-BBF9-FAB012EF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Demostración: una regla respaldada por el reglamento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A0616-1F6B-4938-9EB8-81629B36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91fabe784ea0"/>
          <a:stretch xmlns:a="http://schemas.openxmlformats.org/drawingml/2006/main"/>
        </p:blipFill>
        <p:spPr>
          <a:xfrm xmlns:a="http://schemas.openxmlformats.org/drawingml/2006/main">
            <a:off x="1397319" y="1495425"/>
            <a:ext cx="3710936" cy="48101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7EE3EA-13DB-4C7A-B199-2B11C7DB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09750"/>
            <a:ext cx="50768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Más de 30 % de inasistencias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048D06-4B25-4366-8E99-60DC0CE7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90875"/>
            <a:ext cx="4829175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La respuesta distingue el límite exacto de superarlo y adjunta el documento institucional.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65734-B275-46DA-8C55-15459D5D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86350"/>
            <a:ext cx="4857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Art. 44 del Reglamento General de Estudiantes</a:t>
            </a:r>
          </a:p>
        </p:txBody>
      </p:sp>
    </p:spTree>
    <p:extLst>
      <p:ext uri="{BB962C8B-B14F-4D97-AF65-F5344CB8AC3E}">
        <p14:creationId xmlns:p14="http://schemas.microsoft.com/office/powerpoint/2010/main" val="8540746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1C679-E873-45F8-A4BE-C26B732E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Demostración: se abstiene ante información privada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937EC-4FAB-4E9B-AEAB-037F7F27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17c0ee9044da8"/>
          <a:stretch xmlns:a="http://schemas.openxmlformats.org/drawingml/2006/main"/>
        </p:blipFill>
        <p:spPr>
          <a:xfrm xmlns:a="http://schemas.openxmlformats.org/drawingml/2006/main">
            <a:off x="1374277" y="1495425"/>
            <a:ext cx="3757021" cy="48101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46462D-CED7-4E67-B238-E7009EC7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57375"/>
            <a:ext cx="50387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¿Cuáles son mis notas?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05189-CDE3-42BB-93A9-30279883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52775"/>
            <a:ext cx="4810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El prototipo no tiene credenciales ni permiso para consultar calificaciones personales.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7B0D1-A6C8-459C-927A-6BBF5869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67300"/>
            <a:ext cx="4876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La salida correcta es remitir al acceso institucional.</a:t>
            </a:r>
          </a:p>
        </p:txBody>
      </p:sp>
    </p:spTree>
    <p:extLst>
      <p:ext uri="{BB962C8B-B14F-4D97-AF65-F5344CB8AC3E}">
        <p14:creationId xmlns:p14="http://schemas.microsoft.com/office/powerpoint/2010/main" val="194058261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141F01-52AE-4F2B-B0DD-56ADB9B4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Demostración: una fuente oficial también puede fallar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72D82-3223-409B-8CA0-3FBFEAE7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0e757ebb24ed1"/>
          <a:stretch xmlns:a="http://schemas.openxmlformats.org/drawingml/2006/main"/>
        </p:blipFill>
        <p:spPr>
          <a:xfrm xmlns:a="http://schemas.openxmlformats.org/drawingml/2006/main">
            <a:off x="1413897" y="1495425"/>
            <a:ext cx="3677780" cy="48101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43DFE9-4DB3-4D06-85E9-9D53F1C1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38325"/>
            <a:ext cx="50768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Laboratorio Financiero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211727-0B88-4558-9680-15CE2036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09900"/>
            <a:ext cx="4829175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La web y un reporte de Luis discrepan sobre la ubicación. César no afirma cuál es la actual y pide confirmación.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55CDF-56A2-4345-97F4-4EAAC02C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219700"/>
            <a:ext cx="4762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941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A94148"/>
                </a:solidFill>
                <a:latin typeface="Arial"/>
                <a:ea typeface="Arial"/>
                <a:cs typeface="Arial"/>
              </a:rPr>
              <a:t>Citar una página no confirma su vigencia.</a:t>
            </a:r>
          </a:p>
        </p:txBody>
      </p:sp>
    </p:spTree>
    <p:extLst>
      <p:ext uri="{BB962C8B-B14F-4D97-AF65-F5344CB8AC3E}">
        <p14:creationId xmlns:p14="http://schemas.microsoft.com/office/powerpoint/2010/main" val="210688568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03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09F42-1E42-43D2-99B7-604102CA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Probamos respuestas y abstenciones antes de mostrarlo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83E5FE-8981-407E-981D-6EC70FDA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A72B4-E74C-40FC-B081-FD588175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685925"/>
            <a:ext cx="26574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DFCE1-2934-4243-9F6A-A6910C7B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695575"/>
            <a:ext cx="3000375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preguntas simuladas ejecutadas contra el servicio local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BE903-CDDD-41F2-BEB4-71AAEFCE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685925"/>
            <a:ext cx="2667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46244-52C0-4C4F-BEA8-075EA814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695575"/>
            <a:ext cx="3009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respuestas o abstenciones aprobadas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64BC0-6A98-46FC-AC02-86A84D18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685925"/>
            <a:ext cx="2667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6EEB8-37DA-4FB6-8BE5-D3F7A133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695575"/>
            <a:ext cx="30670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pendientes por respaldo público o vigencia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C2167-CC75-4D0B-B52C-015E215A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05325"/>
            <a:ext cx="11001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8627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06132A-938E-420C-AC7F-2BA7806C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733925"/>
            <a:ext cx="10763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Casos: certificados, reglamento, malla, servicios y datos privados.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FCAD83-5481-4C93-B790-D6129047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334000"/>
            <a:ext cx="10763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Es una prueba interna pequeña, no una tasa de exactitud para estudiantes reales.</a:t>
            </a:r>
          </a:p>
        </p:txBody>
      </p:sp>
    </p:spTree>
    <p:extLst>
      <p:ext uri="{BB962C8B-B14F-4D97-AF65-F5344CB8AC3E}">
        <p14:creationId xmlns:p14="http://schemas.microsoft.com/office/powerpoint/2010/main" val="4316654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8417F8-0594-42B0-8C37-DA450FEB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Telegram demuestra el MVP; la web lidera la preferencia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77758-BE9B-4E25-8371-C0A07D82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B9A30-63F8-4AEB-B8F3-5A0086B3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23336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6/10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79AEEB-61F3-4533-8CA4-F6BBF6DD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44005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prefieren usarlo en la plataforma web universitaria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C9CCF-6892-4FF2-93CC-92771DE6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752600"/>
            <a:ext cx="0" cy="3409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E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04172-AD57-49C5-A692-4AC5B84E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905000"/>
            <a:ext cx="2286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4/10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E46074-92E5-403D-9486-70722CC8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95600"/>
            <a:ext cx="4000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prefieren WhatsApp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339A4-2D80-4EDC-8410-38CAF906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0"/>
            <a:ext cx="106013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Telegram fue la vía más rápida para construir y enseñar el prototipo; no apareció como preferencia en estas respuestas.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25B3D9-AD3C-485B-B814-9974D657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00775"/>
            <a:ext cx="1047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Encuesta exploratoria de estudiantes, n=10; el canal final debe volver a validarse.</a:t>
            </a:r>
          </a:p>
        </p:txBody>
      </p:sp>
    </p:spTree>
    <p:extLst>
      <p:ext uri="{BB962C8B-B14F-4D97-AF65-F5344CB8AC3E}">
        <p14:creationId xmlns:p14="http://schemas.microsoft.com/office/powerpoint/2010/main" val="49095776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F5137A-CAB2-49F5-8DF1-1FC0B071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Lo siguiente depende de contenido y permisos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1E4D-595B-46AE-BD48-9BF29159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FBB71-7D82-4FFE-936B-9D3514DC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609725"/>
            <a:ext cx="704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51173-C034-4E2B-8EE9-D9FA450A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1609725"/>
            <a:ext cx="348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Curar fuentes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8E16CA-164D-44E7-9920-FACB0838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1609725"/>
            <a:ext cx="62769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Responsable, fecha de revisión y enlace oficial.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B08474-549E-434A-AAAC-736D5DDA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DB058D-A6F2-4415-9940-FB8F7A13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667000"/>
            <a:ext cx="704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8DB5B9-47B4-4B1A-99B2-9BED048F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667000"/>
            <a:ext cx="348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Validar con estudiantes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F8D773-2E65-4F62-8707-1AD1AC2E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667000"/>
            <a:ext cx="62769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Probar entrega por Telegram, respuestas, tiempos y costos.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AED33-5BF5-48A2-B623-C6983E35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337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F7F7BA-743A-4FF7-B6EF-58E947E9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724275"/>
            <a:ext cx="704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2DBA92-997D-4155-AFE6-4BA9897D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724275"/>
            <a:ext cx="348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Acordar acceso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25F227-96E3-47CA-930A-E853395A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3724275"/>
            <a:ext cx="62769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API de Nido, identidad y calendarios con el CESA.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4CB04-C017-451F-8C44-4322CE2D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CDE9B-2F87-4873-9466-38DE5157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781550"/>
            <a:ext cx="704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D1CE19-2959-4B76-BF58-1A733B4D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781550"/>
            <a:ext cx="348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Ampliar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73A54B-B2FE-4D51-A84C-A8A71378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4781550"/>
            <a:ext cx="62769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83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283C"/>
                </a:solidFill>
                <a:latin typeface="Arial"/>
                <a:ea typeface="Arial"/>
                <a:cs typeface="Arial"/>
              </a:rPr>
              <a:t>Horario, citas y ranking si aportan mejora medida.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18C62F-D327-4314-8631-8045308C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924550"/>
            <a:ext cx="1071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A9414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94148"/>
                </a:solidFill>
                <a:latin typeface="Arial"/>
                <a:ea typeface="Arial"/>
                <a:cs typeface="Arial"/>
              </a:rPr>
              <a:t>No hay autorización institucional para consultar datos personales o ejecutar trámites.</a:t>
            </a:r>
          </a:p>
        </p:txBody>
      </p:sp>
    </p:spTree>
    <p:extLst>
      <p:ext uri="{BB962C8B-B14F-4D97-AF65-F5344CB8AC3E}">
        <p14:creationId xmlns:p14="http://schemas.microsoft.com/office/powerpoint/2010/main" val="32083663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8F0CCF-26B0-4F13-90D6-422B4737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9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El equipo detrás de César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28192-C186-4052-B99A-1B475C72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22A75-BD00-4669-B1E9-37EA92A0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27D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27D6D"/>
                </a:solidFill>
                <a:latin typeface="Arial"/>
                <a:ea typeface="Arial"/>
                <a:cs typeface="Arial"/>
              </a:rPr>
              <a:t>Responsabilidades del equipo en el prototipo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4558E3-9CDF-49B1-AFFF-41927D73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057400"/>
            <a:ext cx="52578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B85ADC-D3CB-4A10-B757-29B15784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Juan Zapata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9D62CC-C9C3-437B-B272-08263CFA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4667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Pruebas del prototipo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AEE4BF-9095-429D-8F20-14BF418C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57400"/>
            <a:ext cx="52578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B5B59-FF4D-47C1-B8DE-82693EF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Benjamín Herrera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E1FC0-C0D4-4613-AE7B-7E66E52B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4667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Creador de la presentación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A43BE-4580-462D-B4A6-AFB7F5A5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829050"/>
            <a:ext cx="52578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A35BFB-D440-47DA-B5D1-FACBC131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Juan Pablo Salazar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354946-42A4-43FF-BE8A-E04FF1A2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10100"/>
            <a:ext cx="4667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Encuestas a estudiantes y CESA Contigo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34989D-4D68-40AF-BF45-0DF30197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829050"/>
            <a:ext cx="52578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4F1EA"/>
          </a:solidFill>
          <a:ln xmlns:a="http://schemas.openxmlformats.org/drawingml/2006/main" w="9525">
            <a:solidFill>
              <a:srgbClr val="C8D6E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9CC5C1-DB7B-440A-8ABC-81F211FC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3860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203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037"/>
                </a:solidFill>
                <a:latin typeface="Arial"/>
                <a:ea typeface="Arial"/>
                <a:cs typeface="Arial"/>
              </a:rPr>
              <a:t>Luis Gutiérrez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C36E56-F556-412C-8B35-D3B76670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10100"/>
            <a:ext cx="4667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Construcción del chatbot y repositorio</a:t>
            </a:r>
          </a:p>
        </p:txBody>
      </p:sp>
    </p:spTree>
    <p:extLst>
      <p:ext uri="{BB962C8B-B14F-4D97-AF65-F5344CB8AC3E}">
        <p14:creationId xmlns:p14="http://schemas.microsoft.com/office/powerpoint/2010/main" val="165245487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0203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8b2e0e9dba4d7c"/>
          <a:stretch xmlns:a="http://schemas.openxmlformats.org/drawingml/2006/main"/>
        </p:blipFill>
        <p:spPr>
          <a:xfrm xmlns:a="http://schemas.openxmlformats.org/drawingml/2006/main">
            <a:off x="6819061" y="542925"/>
            <a:ext cx="4859429" cy="57721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E34BD-7850-4567-BAA7-0EB785CB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769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BA3AA-DAEA-40E0-839B-85C9FE09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52525"/>
            <a:ext cx="5362575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César ya demuestra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una respuesta mejor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B35A3-4A03-4027-9A2C-44B65A77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43250"/>
            <a:ext cx="5038725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Hoy: información general con fuente y límites explícitos.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00D6DD-B954-48DD-AED5-F4EC9079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486275"/>
            <a:ext cx="50768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8B9D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8B9D2"/>
                </a:solidFill>
                <a:latin typeface="Arial"/>
                <a:ea typeface="Arial"/>
                <a:cs typeface="Arial"/>
              </a:rPr>
              <a:t>Después: Nido autorizado, horarios y citas.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95A27-8F06-45DF-BF2E-9DE73CCF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86400"/>
            <a:ext cx="5086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 confianza en la respuesta es la condición para escalar.</a:t>
            </a:r>
          </a:p>
        </p:txBody>
      </p:sp>
    </p:spTree>
    <p:extLst>
      <p:ext uri="{BB962C8B-B14F-4D97-AF65-F5344CB8AC3E}">
        <p14:creationId xmlns:p14="http://schemas.microsoft.com/office/powerpoint/2010/main" val="1649366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2026-09-25T04:56:20.3450000Z</dcterms:created>
  <dcterms:modified xsi:type="dcterms:W3CDTF">2026-09-25T04:56:20.3450000Z</dcterms:modified>
</coreProperties>
</file>